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4" r:id="rId2"/>
    <p:sldMasterId id="2147483700" r:id="rId3"/>
    <p:sldMasterId id="2147483710" r:id="rId4"/>
  </p:sldMasterIdLst>
  <p:notesMasterIdLst>
    <p:notesMasterId r:id="rId19"/>
  </p:notesMasterIdLst>
  <p:handoutMasterIdLst>
    <p:handoutMasterId r:id="rId20"/>
  </p:handoutMasterIdLst>
  <p:sldIdLst>
    <p:sldId id="261" r:id="rId5"/>
    <p:sldId id="418" r:id="rId6"/>
    <p:sldId id="426" r:id="rId7"/>
    <p:sldId id="420" r:id="rId8"/>
    <p:sldId id="423" r:id="rId9"/>
    <p:sldId id="427" r:id="rId10"/>
    <p:sldId id="428" r:id="rId11"/>
    <p:sldId id="424" r:id="rId12"/>
    <p:sldId id="430" r:id="rId13"/>
    <p:sldId id="432" r:id="rId14"/>
    <p:sldId id="440" r:id="rId15"/>
    <p:sldId id="441" r:id="rId16"/>
    <p:sldId id="442" r:id="rId17"/>
    <p:sldId id="444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38D973B-811F-432E-B12A-737C3F3110CE}">
          <p14:sldIdLst>
            <p14:sldId id="261"/>
            <p14:sldId id="418"/>
            <p14:sldId id="426"/>
            <p14:sldId id="420"/>
            <p14:sldId id="423"/>
            <p14:sldId id="427"/>
            <p14:sldId id="428"/>
            <p14:sldId id="424"/>
            <p14:sldId id="430"/>
            <p14:sldId id="432"/>
            <p14:sldId id="440"/>
            <p14:sldId id="441"/>
            <p14:sldId id="442"/>
            <p14:sldId id="444"/>
          </p14:sldIdLst>
        </p14:section>
        <p14:section name="Untitled Section" id="{55B28CDD-B8D5-4A52-97A3-A21E5E725D2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hor" initials="A" lastIdx="4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4D5D"/>
    <a:srgbClr val="DCE7F0"/>
    <a:srgbClr val="1D8DB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75418" autoAdjust="0"/>
  </p:normalViewPr>
  <p:slideViewPr>
    <p:cSldViewPr snapToGrid="0" snapToObjects="1">
      <p:cViewPr varScale="1">
        <p:scale>
          <a:sx n="56" d="100"/>
          <a:sy n="56" d="100"/>
        </p:scale>
        <p:origin x="1012" y="4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4" d="100"/>
          <a:sy n="54" d="100"/>
        </p:scale>
        <p:origin x="25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/>
              <a:t>12-11-2025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66214-DB21-4647-B5DA-0D17CA592867}" type="datetimeFigureOut">
              <a:rPr lang="nl-NL" smtClean="0"/>
              <a:t>12-11-2025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15505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Unpaid</a:t>
            </a:r>
            <a:r>
              <a:rPr lang="nl-BE" dirty="0"/>
              <a:t> time – latent class analysis </a:t>
            </a:r>
            <a:r>
              <a:rPr lang="nl-BE" dirty="0" err="1"/>
              <a:t>done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nl-B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1 ‘no unpaid tasks’ 79% of sample</a:t>
            </a:r>
            <a:endParaRPr lang="nl-B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2 ‘partially unpaid tasks’ 11,35% of sample</a:t>
            </a:r>
            <a:endParaRPr lang="nl-B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3 ‘unpaid tasks’</a:t>
            </a:r>
            <a:r>
              <a:rPr lang="nl-B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9,65% of sample</a:t>
            </a:r>
            <a:endParaRPr lang="nl-B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Emotional </a:t>
            </a:r>
            <a:r>
              <a:rPr lang="en-US" noProof="0" dirty="0" err="1"/>
              <a:t>labour</a:t>
            </a:r>
            <a:r>
              <a:rPr lang="en-US" noProof="0" dirty="0"/>
              <a:t> </a:t>
            </a:r>
            <a:r>
              <a:rPr lang="en-US" noProof="0" dirty="0">
                <a:sym typeface="Wingdings" panose="05000000000000000000" pitchFamily="2" charset="2"/>
              </a:rPr>
              <a:t> p</a:t>
            </a:r>
            <a:r>
              <a:rPr lang="en-US" noProof="0" dirty="0"/>
              <a:t>rincipal Component Analysis shows 1 component (Cronbach’s alpha 0,815)</a:t>
            </a:r>
            <a:endParaRPr lang="nl-B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nl-BE" dirty="0"/>
          </a:p>
          <a:p>
            <a:r>
              <a:rPr lang="nl-BE" dirty="0" err="1"/>
              <a:t>Emotional</a:t>
            </a:r>
            <a:r>
              <a:rPr lang="nl-BE" dirty="0"/>
              <a:t> </a:t>
            </a:r>
            <a:r>
              <a:rPr lang="nl-BE" dirty="0" err="1"/>
              <a:t>labour</a:t>
            </a:r>
            <a:r>
              <a:rPr lang="nl-BE" dirty="0"/>
              <a:t> – factor analysis </a:t>
            </a:r>
            <a:r>
              <a:rPr lang="nl-BE" dirty="0" err="1"/>
              <a:t>done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4887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We </a:t>
            </a:r>
            <a:r>
              <a:rPr lang="nl-BE" dirty="0" err="1"/>
              <a:t>also</a:t>
            </a:r>
            <a:r>
              <a:rPr lang="nl-BE" dirty="0"/>
              <a:t> </a:t>
            </a:r>
            <a:r>
              <a:rPr lang="nl-BE" dirty="0" err="1"/>
              <a:t>include</a:t>
            </a:r>
            <a:r>
              <a:rPr lang="nl-BE" dirty="0"/>
              <a:t> </a:t>
            </a:r>
            <a:r>
              <a:rPr lang="nl-BE" dirty="0" err="1"/>
              <a:t>unpaid</a:t>
            </a:r>
            <a:r>
              <a:rPr lang="nl-BE" dirty="0"/>
              <a:t> </a:t>
            </a:r>
            <a:r>
              <a:rPr lang="nl-BE" dirty="0" err="1"/>
              <a:t>overtime</a:t>
            </a:r>
            <a:r>
              <a:rPr lang="nl-BE" dirty="0"/>
              <a:t>, next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tasks</a:t>
            </a:r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b="1" dirty="0" err="1"/>
              <a:t>Unpaid</a:t>
            </a:r>
            <a:r>
              <a:rPr lang="nl-BE" b="1" dirty="0"/>
              <a:t> </a:t>
            </a:r>
            <a:r>
              <a:rPr lang="nl-BE" b="1" dirty="0" err="1"/>
              <a:t>tasks</a:t>
            </a:r>
            <a:r>
              <a:rPr lang="nl-BE" dirty="0"/>
              <a:t>: </a:t>
            </a:r>
            <a:r>
              <a:rPr lang="en-US" dirty="0"/>
              <a:t>potential to explore linkages with technology and job automation or with </a:t>
            </a:r>
            <a:r>
              <a:rPr lang="nl-BE" dirty="0" err="1"/>
              <a:t>competences</a:t>
            </a:r>
            <a:r>
              <a:rPr lang="nl-BE" dirty="0"/>
              <a:t>/ skills </a:t>
            </a:r>
            <a:r>
              <a:rPr lang="en-US" dirty="0"/>
              <a:t>(in EWCS)</a:t>
            </a:r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b="1" dirty="0" err="1"/>
              <a:t>Emotional</a:t>
            </a:r>
            <a:r>
              <a:rPr lang="nl-BE" b="1" dirty="0"/>
              <a:t> </a:t>
            </a:r>
            <a:r>
              <a:rPr lang="nl-BE" b="1" dirty="0" err="1"/>
              <a:t>labour</a:t>
            </a:r>
            <a:r>
              <a:rPr lang="nl-BE" dirty="0"/>
              <a:t>: EWCS </a:t>
            </a:r>
            <a:r>
              <a:rPr lang="nl-BE" dirty="0" err="1"/>
              <a:t>also</a:t>
            </a:r>
            <a:r>
              <a:rPr lang="nl-BE" dirty="0"/>
              <a:t> </a:t>
            </a:r>
            <a:r>
              <a:rPr lang="nl-BE" dirty="0" err="1"/>
              <a:t>contains</a:t>
            </a:r>
            <a:r>
              <a:rPr lang="nl-BE" dirty="0"/>
              <a:t> a question on ‘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job requires you to hide your feelings’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Respectme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includes more items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Motives:</a:t>
            </a:r>
          </a:p>
          <a:p>
            <a:r>
              <a:rPr lang="en-US" noProof="0" dirty="0"/>
              <a:t>1. Unpaid work is part of my job</a:t>
            </a:r>
          </a:p>
          <a:p>
            <a:r>
              <a:rPr lang="en-US" noProof="0" dirty="0"/>
              <a:t>2. There is no one to perform the tasks for my job instead of me</a:t>
            </a:r>
          </a:p>
          <a:p>
            <a:r>
              <a:rPr lang="en-US" noProof="0" dirty="0"/>
              <a:t>3. Doing unpaid work can help with my career (e.g., promotion, increase in wage, bonus, finding a better job, etc.)</a:t>
            </a:r>
          </a:p>
          <a:p>
            <a:r>
              <a:rPr lang="en-US" noProof="0" dirty="0"/>
              <a:t>4. Doing unpaid work is seen </a:t>
            </a:r>
            <a:r>
              <a:rPr lang="en-US" noProof="0" dirty="0" err="1"/>
              <a:t>favourably</a:t>
            </a:r>
            <a:r>
              <a:rPr lang="en-US" noProof="0" dirty="0"/>
              <a:t> by colleagues, clients, or employers</a:t>
            </a:r>
          </a:p>
          <a:p>
            <a:r>
              <a:rPr lang="en-US" noProof="0" dirty="0"/>
              <a:t>5. Doing unpaid work is an act of care or kindness towards people I work with (e.g., colleagues, clients)</a:t>
            </a:r>
          </a:p>
          <a:p>
            <a:r>
              <a:rPr lang="en-US" noProof="0" dirty="0"/>
              <a:t>6. Not doing unpaid work would make me feel guilty</a:t>
            </a:r>
          </a:p>
          <a:p>
            <a:r>
              <a:rPr lang="en-US" noProof="0" dirty="0"/>
              <a:t>7. Not doing unpaid work is seen badly by colleagues, clients, or employers</a:t>
            </a:r>
          </a:p>
          <a:p>
            <a:r>
              <a:rPr lang="en-US" noProof="0" dirty="0"/>
              <a:t>8. Not doing unpaid work might harm my career (e.g., promotion, finding better job in the future, wage, losing clients)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Recognition: </a:t>
            </a:r>
          </a:p>
          <a:p>
            <a:r>
              <a:rPr lang="en-US" dirty="0"/>
              <a:t>Already in EWCS: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Question on discrimination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have the feeling of doing useful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job gives you the feeling of work well done</a:t>
            </a:r>
            <a:r>
              <a:rPr lang="en-US" dirty="0"/>
              <a:t> </a:t>
            </a:r>
          </a:p>
          <a:p>
            <a:r>
              <a:rPr lang="en-US" sz="1200" noProof="0" dirty="0"/>
              <a:t>In </a:t>
            </a:r>
            <a:r>
              <a:rPr lang="en-US" sz="1200" noProof="0" dirty="0" err="1"/>
              <a:t>Respectme</a:t>
            </a:r>
            <a:r>
              <a:rPr lang="en-US" sz="1200" noProof="0" dirty="0"/>
              <a:t>:</a:t>
            </a:r>
          </a:p>
          <a:p>
            <a:r>
              <a:rPr lang="en-US" sz="1200" noProof="0" dirty="0"/>
              <a:t>1. My job gives me the feeling of work well done </a:t>
            </a:r>
          </a:p>
          <a:p>
            <a:r>
              <a:rPr lang="en-US" sz="1200" noProof="0" dirty="0"/>
              <a:t>2. I feel like I do useful work</a:t>
            </a:r>
          </a:p>
          <a:p>
            <a:r>
              <a:rPr lang="en-US" sz="1200" noProof="0" dirty="0"/>
              <a:t>3. I feel like my job is being recognized</a:t>
            </a:r>
          </a:p>
          <a:p>
            <a:r>
              <a:rPr lang="en-US" sz="1200" noProof="0" dirty="0"/>
              <a:t>4. I feel appreciated in society because of my job</a:t>
            </a:r>
          </a:p>
          <a:p>
            <a:r>
              <a:rPr lang="en-US" sz="1200" noProof="0" dirty="0"/>
              <a:t>5. Considering all my efforts and achievements in my job, I feel I get paid appropriately</a:t>
            </a:r>
          </a:p>
          <a:p>
            <a:r>
              <a:rPr lang="en-US" sz="1200" noProof="0" dirty="0"/>
              <a:t>6. My job offers good prospects for career advancement</a:t>
            </a:r>
          </a:p>
          <a:p>
            <a:r>
              <a:rPr lang="en-US" sz="1200" noProof="0" dirty="0"/>
              <a:t>7. I might lose my job in the next 6 months</a:t>
            </a:r>
          </a:p>
          <a:p>
            <a:r>
              <a:rPr lang="en-US" sz="1200" noProof="0" dirty="0"/>
              <a:t>8. If I were to lose or quit my current job, it would be easy for me to find a job of a similar salary</a:t>
            </a:r>
          </a:p>
          <a:p>
            <a:pPr marL="457200" indent="-457200">
              <a:buAutoNum type="arabicPeriod"/>
            </a:pPr>
            <a:r>
              <a:rPr lang="en-US" sz="2300" noProof="0" dirty="0"/>
              <a:t>Others think less of people in a similar job to mine</a:t>
            </a:r>
          </a:p>
          <a:p>
            <a:pPr marL="457200" indent="-457200">
              <a:buAutoNum type="arabicPeriod"/>
            </a:pPr>
            <a:r>
              <a:rPr lang="en-US" sz="2300" noProof="0" dirty="0"/>
              <a:t>People who work in a similar job to mine feel we’re not as good as others</a:t>
            </a:r>
          </a:p>
          <a:p>
            <a:pPr marL="457200" indent="-457200">
              <a:buAutoNum type="arabicPeriod"/>
            </a:pPr>
            <a:r>
              <a:rPr lang="en-US" sz="2300" noProof="0" dirty="0"/>
              <a:t>Others discriminate against me because of my job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01182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4203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95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0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6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77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203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22770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270691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0" y="648000"/>
            <a:ext cx="12192000" cy="6228000"/>
          </a:xfrm>
          <a:prstGeom prst="rect">
            <a:avLst/>
          </a:prstGeom>
          <a:gradFill flip="none" rotWithShape="1">
            <a:gsLst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77E9D"/>
              </a:gs>
              <a:gs pos="100000">
                <a:srgbClr val="116E8A"/>
              </a:gs>
              <a:gs pos="100000">
                <a:schemeClr val="accent1">
                  <a:tint val="44500"/>
                  <a:satMod val="160000"/>
                </a:schemeClr>
              </a:gs>
              <a:gs pos="0">
                <a:srgbClr val="1D8DB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1800" dirty="0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4128000" y="2088000"/>
            <a:ext cx="7440000" cy="18000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en typ de titel van de presentatie</a:t>
            </a:r>
            <a:endParaRPr lang="nl-BE" dirty="0"/>
          </a:p>
        </p:txBody>
      </p:sp>
      <p:sp>
        <p:nvSpPr>
          <p:cNvPr id="10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128000" y="4193675"/>
            <a:ext cx="7440000" cy="1080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en typ de subtitel van de presentatie</a:t>
            </a:r>
            <a:endParaRPr lang="nl-BE" dirty="0"/>
          </a:p>
        </p:txBody>
      </p:sp>
      <p:pic>
        <p:nvPicPr>
          <p:cNvPr id="12" name="Afbeelding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00" y="1800000"/>
            <a:ext cx="2453397" cy="4294442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044800" y="5706000"/>
            <a:ext cx="571200" cy="720000"/>
          </a:xfrm>
          <a:prstGeom prst="rect">
            <a:avLst/>
          </a:prstGeom>
        </p:spPr>
      </p:pic>
      <p:pic>
        <p:nvPicPr>
          <p:cNvPr id="3" name="Afbeelding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00" y="360001"/>
            <a:ext cx="2686309" cy="71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896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52BDEC"/>
                </a:solidFill>
              </a:defRPr>
            </a:lvl1pPr>
          </a:lstStyle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CD72-59EE-436D-B435-201699A5BB49}" type="datetimeFigureOut">
              <a:rPr lang="nl-BE" smtClean="0"/>
              <a:pPr/>
              <a:t>12/11/2025</a:t>
            </a:fld>
            <a:endParaRPr lang="nl-BE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6" name="Tijdelijke aanduiding voor tekst 2"/>
          <p:cNvSpPr>
            <a:spLocks noGrp="1"/>
          </p:cNvSpPr>
          <p:nvPr>
            <p:ph idx="1" hasCustomPrompt="1"/>
          </p:nvPr>
        </p:nvSpPr>
        <p:spPr>
          <a:xfrm>
            <a:off x="720000" y="1349999"/>
            <a:ext cx="11112000" cy="442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20792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0" y="0"/>
            <a:ext cx="12192000" cy="6408000"/>
          </a:xfrm>
          <a:prstGeom prst="rect">
            <a:avLst/>
          </a:prstGeom>
          <a:gradFill flip="none" rotWithShape="1">
            <a:gsLst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77E9D"/>
              </a:gs>
              <a:gs pos="100000">
                <a:srgbClr val="116E8A"/>
              </a:gs>
              <a:gs pos="100000">
                <a:schemeClr val="accent1">
                  <a:tint val="44500"/>
                  <a:satMod val="160000"/>
                </a:schemeClr>
              </a:gs>
              <a:gs pos="0">
                <a:srgbClr val="1D8DB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1800" dirty="0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5040000" y="2304000"/>
            <a:ext cx="6792000" cy="18002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en typ de titel van de sectie</a:t>
            </a:r>
            <a:endParaRPr lang="nl-BE" dirty="0"/>
          </a:p>
        </p:txBody>
      </p:sp>
      <p:sp>
        <p:nvSpPr>
          <p:cNvPr id="10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040000" y="4419108"/>
            <a:ext cx="6792000" cy="1080000"/>
          </a:xfrm>
        </p:spPr>
        <p:txBody>
          <a:bodyPr anchor="t" anchorCtr="0"/>
          <a:lstStyle>
            <a:lvl1pPr marL="0" indent="0" algn="l"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en typ de subtitel van de sectie</a:t>
            </a:r>
            <a:endParaRPr lang="nl-BE" dirty="0"/>
          </a:p>
        </p:txBody>
      </p:sp>
      <p:pic>
        <p:nvPicPr>
          <p:cNvPr id="17" name="Afbeelding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000" y="6012000"/>
            <a:ext cx="2016611" cy="540000"/>
          </a:xfrm>
          <a:prstGeom prst="rect">
            <a:avLst/>
          </a:prstGeom>
        </p:spPr>
      </p:pic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204001"/>
            <a:ext cx="4401321" cy="320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77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52BDEC"/>
                </a:solidFill>
              </a:defRPr>
            </a:lvl1pPr>
          </a:lstStyle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720000" y="1350000"/>
            <a:ext cx="5384800" cy="4428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 marL="1435100" indent="-228600">
              <a:buFont typeface="Arial" pitchFamily="34" charset="0"/>
              <a:buChar char="-"/>
              <a:defRPr sz="1600">
                <a:solidFill>
                  <a:srgbClr val="00407A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6447200" y="1350000"/>
            <a:ext cx="5384800" cy="4428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 marL="1435100" indent="-228600">
              <a:buFont typeface="Arial" pitchFamily="34" charset="0"/>
              <a:buChar char="-"/>
              <a:defRPr sz="1600">
                <a:solidFill>
                  <a:srgbClr val="00407A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CD72-59EE-436D-B435-201699A5BB49}" type="datetimeFigureOut">
              <a:rPr lang="nl-BE" smtClean="0"/>
              <a:pPr/>
              <a:t>12/11/2025</a:t>
            </a:fld>
            <a:endParaRPr lang="nl-BE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38370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720000" y="1350000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407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 en typ de tekst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720000" y="1991922"/>
            <a:ext cx="5386917" cy="3798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600"/>
            </a:lvl4pPr>
            <a:lvl5pPr marL="1435100" indent="-180000">
              <a:buFont typeface="Arial" pitchFamily="34" charset="0"/>
              <a:buChar char="-"/>
              <a:defRPr sz="1600">
                <a:solidFill>
                  <a:srgbClr val="00407A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6432000" y="1350000"/>
            <a:ext cx="538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 en typ de tekst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 hasCustomPrompt="1"/>
          </p:nvPr>
        </p:nvSpPr>
        <p:spPr>
          <a:xfrm>
            <a:off x="6432000" y="1991922"/>
            <a:ext cx="5385600" cy="3798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600"/>
            </a:lvl4pPr>
            <a:lvl5pPr marL="1584325" indent="-285750">
              <a:buFont typeface="Arial" pitchFamily="34" charset="0"/>
              <a:buChar char="-"/>
              <a:defRPr lang="nl-BE" sz="1600" kern="1200" dirty="0">
                <a:solidFill>
                  <a:srgbClr val="00407A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CD72-59EE-436D-B435-201699A5BB49}" type="datetimeFigureOut">
              <a:rPr lang="nl-BE" smtClean="0"/>
              <a:pPr/>
              <a:t>12/11/2025</a:t>
            </a:fld>
            <a:endParaRPr lang="nl-BE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69531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CD72-59EE-436D-B435-201699A5BB49}" type="datetimeFigureOut">
              <a:rPr lang="nl-BE" smtClean="0"/>
              <a:pPr/>
              <a:t>12/11/2025</a:t>
            </a:fld>
            <a:endParaRPr lang="nl-BE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48102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CD72-59EE-436D-B435-201699A5BB49}" type="datetimeFigureOut">
              <a:rPr lang="nl-BE" smtClean="0"/>
              <a:pPr/>
              <a:t>12/11/2025</a:t>
            </a:fld>
            <a:endParaRPr lang="nl-BE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35310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20001" y="540000"/>
            <a:ext cx="4011084" cy="89510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5015879" y="540000"/>
            <a:ext cx="6806852" cy="5256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 marL="1435100" indent="-228600">
              <a:buFont typeface="Arial" pitchFamily="34" charset="0"/>
              <a:buChar char="-"/>
              <a:tabLst/>
              <a:defRPr sz="1600">
                <a:solidFill>
                  <a:srgbClr val="00407A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719403" y="1435101"/>
            <a:ext cx="4011084" cy="4356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/>
              <a:t>Klik en typ de tekst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CD72-59EE-436D-B435-201699A5BB49}" type="datetimeFigureOut">
              <a:rPr lang="nl-BE" smtClean="0"/>
              <a:pPr/>
              <a:t>12/11/2025</a:t>
            </a:fld>
            <a:endParaRPr lang="nl-BE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245189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20000" y="4788000"/>
            <a:ext cx="11112000" cy="540000"/>
          </a:xfrm>
        </p:spPr>
        <p:txBody>
          <a:bodyPr anchor="t" anchorCtr="0">
            <a:noAutofit/>
          </a:bodyPr>
          <a:lstStyle>
            <a:lvl1pPr algn="l">
              <a:defRPr sz="2000" b="1"/>
            </a:lvl1pPr>
          </a:lstStyle>
          <a:p>
            <a:r>
              <a:rPr lang="nl-NL" dirty="0"/>
              <a:t>Klik en typ de tekst</a:t>
            </a:r>
            <a:endParaRPr lang="nl-BE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720000" y="540000"/>
            <a:ext cx="111120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/>
              <a:t>Klik op het pictogram als u een afbeelding wilt toevoegen</a:t>
            </a:r>
            <a:endParaRPr lang="nl-BE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720000" y="5445224"/>
            <a:ext cx="11112000" cy="360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/>
              <a:t>Klik en typ de tekst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>
          <a:xfrm>
            <a:off x="720000" y="6048000"/>
            <a:ext cx="1248000" cy="288000"/>
          </a:xfrm>
        </p:spPr>
        <p:txBody>
          <a:bodyPr/>
          <a:lstStyle/>
          <a:p>
            <a:fld id="{C4DDCD72-59EE-436D-B435-201699A5BB49}" type="datetimeFigureOut">
              <a:rPr lang="nl-BE" smtClean="0"/>
              <a:pPr/>
              <a:t>12/11/2025</a:t>
            </a:fld>
            <a:endParaRPr lang="nl-BE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8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2088000" y="6048000"/>
            <a:ext cx="2640000" cy="288000"/>
          </a:xfr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842438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80627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00375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85228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41889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6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223570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919887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29477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49204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51538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26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61" r:id="rId9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2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720000" y="180000"/>
            <a:ext cx="11112000" cy="90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nl-NL" dirty="0"/>
              <a:t>Klik en typ de titel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0000" y="1349999"/>
            <a:ext cx="11112000" cy="442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/>
              <a:t>Klik en typ de tekst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719403" y="6048000"/>
            <a:ext cx="1248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rgbClr val="00407A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4DDCD72-59EE-436D-B435-201699A5BB49}" type="datetimeFigureOut">
              <a:rPr lang="nl-BE" smtClean="0"/>
              <a:pPr/>
              <a:t>12/11/2025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088000" y="6048000"/>
            <a:ext cx="264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000">
                <a:solidFill>
                  <a:srgbClr val="00407A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848000" y="6048000"/>
            <a:ext cx="1248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rgbClr val="00407A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35D8031-C8E5-48F8-A3B6-81643B27A3AF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7" name="Rechthoek 6"/>
          <p:cNvSpPr/>
          <p:nvPr/>
        </p:nvSpPr>
        <p:spPr>
          <a:xfrm>
            <a:off x="0" y="6408000"/>
            <a:ext cx="12192000" cy="486000"/>
          </a:xfrm>
          <a:prstGeom prst="rect">
            <a:avLst/>
          </a:prstGeom>
          <a:gradFill flip="none" rotWithShape="1">
            <a:gsLst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16E8A"/>
              </a:gs>
              <a:gs pos="100000">
                <a:srgbClr val="177E9D"/>
              </a:gs>
              <a:gs pos="100000">
                <a:srgbClr val="116E8A"/>
              </a:gs>
              <a:gs pos="100000">
                <a:schemeClr val="accent1">
                  <a:tint val="44500"/>
                  <a:satMod val="160000"/>
                </a:schemeClr>
              </a:gs>
              <a:gs pos="0">
                <a:srgbClr val="1D8DB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1800" dirty="0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000" y="6012000"/>
            <a:ext cx="2016611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3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baseline="0">
          <a:solidFill>
            <a:srgbClr val="52BDEC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60000" indent="-360000" algn="l" defTabSz="914400" rtl="0" eaLnBrk="1" latinLnBrk="0" hangingPunct="1">
        <a:spcBef>
          <a:spcPts val="580"/>
        </a:spcBef>
        <a:buSzPct val="110000"/>
        <a:buFont typeface="Arial" pitchFamily="34" charset="0"/>
        <a:buChar char="•"/>
        <a:defRPr sz="2400" kern="1200">
          <a:solidFill>
            <a:srgbClr val="00407A"/>
          </a:solidFill>
          <a:latin typeface="Arial" pitchFamily="34" charset="0"/>
          <a:ea typeface="+mn-ea"/>
          <a:cs typeface="Arial" pitchFamily="34" charset="0"/>
        </a:defRPr>
      </a:lvl1pPr>
      <a:lvl2pPr marL="720000" indent="-360363" algn="l" defTabSz="914400" rtl="0" eaLnBrk="1" latinLnBrk="0" hangingPunct="1">
        <a:spcBef>
          <a:spcPts val="580"/>
        </a:spcBef>
        <a:buSzPct val="75000"/>
        <a:buFont typeface="Courier New" pitchFamily="49" charset="0"/>
        <a:buChar char="o"/>
        <a:defRPr sz="2400" kern="1200">
          <a:solidFill>
            <a:srgbClr val="00407A"/>
          </a:solidFill>
          <a:latin typeface="Arial" pitchFamily="34" charset="0"/>
          <a:ea typeface="+mn-ea"/>
          <a:cs typeface="Arial" pitchFamily="34" charset="0"/>
        </a:defRPr>
      </a:lvl2pPr>
      <a:lvl3pPr marL="990000" indent="-2700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00407A"/>
          </a:solidFill>
          <a:latin typeface="Arial" pitchFamily="34" charset="0"/>
          <a:ea typeface="+mn-ea"/>
          <a:cs typeface="Arial" pitchFamily="34" charset="0"/>
        </a:defRPr>
      </a:lvl3pPr>
      <a:lvl4pPr marL="1168400" indent="-180000" algn="l" defTabSz="914400" rtl="0" eaLnBrk="1" latinLnBrk="0" hangingPunct="1">
        <a:spcBef>
          <a:spcPts val="380"/>
        </a:spcBef>
        <a:buSzPct val="80000"/>
        <a:buFont typeface="Arial" pitchFamily="34" charset="0"/>
        <a:buChar char="•"/>
        <a:defRPr sz="1600" kern="1200">
          <a:solidFill>
            <a:srgbClr val="00407A"/>
          </a:solidFill>
          <a:latin typeface="Arial" pitchFamily="34" charset="0"/>
          <a:ea typeface="+mn-ea"/>
          <a:cs typeface="Arial" pitchFamily="34" charset="0"/>
        </a:defRPr>
      </a:lvl4pPr>
      <a:lvl5pPr marL="1338263" indent="-179388" algn="l" defTabSz="914400" rtl="0" eaLnBrk="1" latinLnBrk="0" hangingPunct="1">
        <a:spcBef>
          <a:spcPts val="380"/>
        </a:spcBef>
        <a:buFont typeface="Arial" pitchFamily="34" charset="0"/>
        <a:buChar char="-"/>
        <a:defRPr lang="nl-BE" sz="1600" kern="1200" dirty="0">
          <a:solidFill>
            <a:srgbClr val="00407A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BE" dirty="0"/>
              <a:t>27/06/2020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699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>
          <p15:clr>
            <a:srgbClr val="F26B43"/>
          </p15:clr>
        </p15:guide>
        <p15:guide id="2" pos="7319">
          <p15:clr>
            <a:srgbClr val="F26B43"/>
          </p15:clr>
        </p15:guide>
        <p15:guide id="3" orient="horz" pos="3857">
          <p15:clr>
            <a:srgbClr val="F26B43"/>
          </p15:clr>
        </p15:guide>
        <p15:guide id="4" pos="3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cid:image002.png@01DB8780.E8C96D00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zenodo.org/records/1518062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open-research-europe.ec.europa.eu/for-authors/article-guidelines/social-sciences/data-not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301584" y="1346200"/>
            <a:ext cx="11556947" cy="3271519"/>
          </a:xfrm>
        </p:spPr>
        <p:txBody>
          <a:bodyPr>
            <a:normAutofit fontScale="90000"/>
          </a:bodyPr>
          <a:lstStyle/>
          <a:p>
            <a:br>
              <a:rPr lang="en-US" sz="2400" b="1" noProof="0" dirty="0"/>
            </a:br>
            <a:br>
              <a:rPr lang="en-US" sz="2400" b="1" noProof="0" dirty="0"/>
            </a:br>
            <a:br>
              <a:rPr lang="en-US" sz="2400" b="1" noProof="0" dirty="0"/>
            </a:br>
            <a:br>
              <a:rPr lang="en-US" sz="2400" b="1" noProof="0" dirty="0"/>
            </a:br>
            <a:br>
              <a:rPr lang="en-US" b="1" noProof="0" dirty="0"/>
            </a:br>
            <a:r>
              <a:rPr lang="en-US" b="1" noProof="0" dirty="0" err="1"/>
              <a:t>ReSTLess</a:t>
            </a:r>
            <a:r>
              <a:rPr lang="en-US" b="1" noProof="0" dirty="0"/>
              <a:t> </a:t>
            </a:r>
            <a:br>
              <a:rPr lang="en-US" noProof="0" dirty="0"/>
            </a:br>
            <a:br>
              <a:rPr lang="en-US" noProof="0" dirty="0"/>
            </a:br>
            <a:r>
              <a:rPr lang="en-US" sz="3100" b="1" noProof="0" dirty="0"/>
              <a:t>Macro-Social Turn in Labour Market Inequality: An Open Database and A Toolkit of Unpaid Labour </a:t>
            </a:r>
            <a:br>
              <a:rPr lang="en-US" sz="2400" b="1" noProof="0" dirty="0"/>
            </a:br>
            <a:r>
              <a:rPr lang="en-US" sz="2400" b="1" noProof="0" dirty="0"/>
              <a:t> </a:t>
            </a:r>
            <a:br>
              <a:rPr lang="en-US" sz="4900" b="1" noProof="0" dirty="0"/>
            </a:br>
            <a:br>
              <a:rPr lang="en-US" sz="4900" b="1" noProof="0" dirty="0"/>
            </a:br>
            <a:br>
              <a:rPr lang="en-US" sz="2400" noProof="0" dirty="0"/>
            </a:br>
            <a:endParaRPr lang="en-US" sz="2400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19" y="868680"/>
            <a:ext cx="3916950" cy="22059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865533" y="279385"/>
            <a:ext cx="42079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noProof="0" dirty="0"/>
              <a:t>Kick-off Meeting, 12</a:t>
            </a:r>
            <a:r>
              <a:rPr lang="en-US" baseline="30000" noProof="0" dirty="0"/>
              <a:t>th</a:t>
            </a:r>
            <a:r>
              <a:rPr lang="en-US" noProof="0" dirty="0"/>
              <a:t> November 2025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C9DA2AF-02F3-1A59-E519-06C2C7974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808" y="5225613"/>
            <a:ext cx="11768402" cy="1515984"/>
          </a:xfrm>
        </p:spPr>
        <p:txBody>
          <a:bodyPr>
            <a:normAutofit fontScale="92500" lnSpcReduction="10000"/>
          </a:bodyPr>
          <a:lstStyle/>
          <a:p>
            <a:r>
              <a:rPr lang="en-US" sz="2800" noProof="0" dirty="0"/>
              <a:t>Valeria Pulignano (PI), Milena Franke (Post-Doc), Bart Meuleman (PI-collaborator) </a:t>
            </a:r>
            <a:br>
              <a:rPr lang="en-US" sz="2800" noProof="0" dirty="0"/>
            </a:br>
            <a:endParaRPr lang="en-US" sz="2800" noProof="0" dirty="0"/>
          </a:p>
          <a:p>
            <a:r>
              <a:rPr lang="en-US" noProof="0" dirty="0"/>
              <a:t>KU Leuven – Centre for Sociological Research</a:t>
            </a:r>
          </a:p>
        </p:txBody>
      </p:sp>
    </p:spTree>
    <p:extLst>
      <p:ext uri="{BB962C8B-B14F-4D97-AF65-F5344CB8AC3E}">
        <p14:creationId xmlns:p14="http://schemas.microsoft.com/office/powerpoint/2010/main" val="36282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A1FFDE-1AB3-0C3C-6DCB-767C78CB2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976040"/>
            <a:ext cx="5400000" cy="44640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2800" noProof="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800" noProof="0" dirty="0"/>
              <a:t>To enable ERC-funded ideas to progress on the path </a:t>
            </a:r>
            <a:r>
              <a:rPr lang="en-US" sz="2800" b="1" noProof="0" dirty="0"/>
              <a:t>from ground-breaking research towards innovation</a:t>
            </a:r>
            <a:r>
              <a:rPr lang="en-US" sz="2800" noProof="0" dirty="0"/>
              <a:t>.</a:t>
            </a:r>
          </a:p>
          <a:p>
            <a:pPr>
              <a:lnSpc>
                <a:spcPct val="90000"/>
              </a:lnSpc>
            </a:pPr>
            <a:endParaRPr lang="en-US" sz="2800" noProof="0" dirty="0"/>
          </a:p>
          <a:p>
            <a:pPr>
              <a:lnSpc>
                <a:spcPct val="90000"/>
              </a:lnSpc>
            </a:pPr>
            <a:endParaRPr lang="en-US" sz="2200" noProof="0" dirty="0"/>
          </a:p>
          <a:p>
            <a:pPr>
              <a:lnSpc>
                <a:spcPct val="90000"/>
              </a:lnSpc>
            </a:pPr>
            <a:endParaRPr lang="en-US" sz="1800" noProof="0" dirty="0"/>
          </a:p>
        </p:txBody>
      </p:sp>
      <p:pic>
        <p:nvPicPr>
          <p:cNvPr id="1028" name="Picture 4" descr="Proof of Concept 2025 DL1">
            <a:extLst>
              <a:ext uri="{FF2B5EF4-FFF2-40B4-BE49-F238E27FC236}">
                <a16:creationId xmlns:a16="http://schemas.microsoft.com/office/drawing/2014/main" id="{A90DFE9D-FDB2-0712-4432-9E7A82F2F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7" r="18340" b="1"/>
          <a:stretch>
            <a:fillRect/>
          </a:stretch>
        </p:blipFill>
        <p:spPr bwMode="auto">
          <a:xfrm>
            <a:off x="6217200" y="1656000"/>
            <a:ext cx="5400000" cy="44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8833280-7F8B-1964-C77F-22676A38E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Objective </a:t>
            </a:r>
          </a:p>
        </p:txBody>
      </p:sp>
    </p:spTree>
    <p:extLst>
      <p:ext uri="{BB962C8B-B14F-4D97-AF65-F5344CB8AC3E}">
        <p14:creationId xmlns:p14="http://schemas.microsoft.com/office/powerpoint/2010/main" val="885706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BE77-F530-0022-2E89-AD4FA9F1A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FEEDCB-D0B9-80B7-DB3A-250865181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200" noProof="0" dirty="0"/>
          </a:p>
          <a:p>
            <a:pPr marL="0" indent="0">
              <a:lnSpc>
                <a:spcPct val="90000"/>
              </a:lnSpc>
              <a:buNone/>
            </a:pPr>
            <a:r>
              <a:rPr lang="en-US" b="1" noProof="0" dirty="0"/>
              <a:t>ERC PoC </a:t>
            </a:r>
            <a:r>
              <a:rPr lang="en-US" b="1" noProof="0" dirty="0" err="1"/>
              <a:t>ReSTLess</a:t>
            </a:r>
            <a:r>
              <a:rPr lang="en-US" b="1" noProof="0" dirty="0"/>
              <a:t> (2025-2027) </a:t>
            </a:r>
            <a:r>
              <a:rPr lang="en-US" noProof="0" dirty="0"/>
              <a:t> establishes a clear pathway from research (</a:t>
            </a:r>
            <a:r>
              <a:rPr lang="en-US" b="1" noProof="0" dirty="0"/>
              <a:t>ERC </a:t>
            </a:r>
            <a:r>
              <a:rPr lang="en-US" b="1" noProof="0" dirty="0" err="1"/>
              <a:t>AdG</a:t>
            </a:r>
            <a:r>
              <a:rPr lang="en-US" b="1" noProof="0" dirty="0"/>
              <a:t> </a:t>
            </a:r>
            <a:r>
              <a:rPr lang="en-US" b="1" noProof="0" dirty="0" err="1"/>
              <a:t>ResPectMe</a:t>
            </a:r>
            <a:r>
              <a:rPr lang="en-US" b="1" noProof="0" dirty="0"/>
              <a:t> 2019-2025</a:t>
            </a:r>
            <a:r>
              <a:rPr lang="en-US" noProof="0" dirty="0"/>
              <a:t>) to innovation by instigating a </a:t>
            </a:r>
            <a:r>
              <a:rPr lang="en-US" b="1" noProof="0" dirty="0"/>
              <a:t>‘macro-social turn’ on </a:t>
            </a:r>
            <a:r>
              <a:rPr lang="en-US" b="1" noProof="0" dirty="0" err="1"/>
              <a:t>labour</a:t>
            </a:r>
            <a:r>
              <a:rPr lang="en-US" b="1" noProof="0" dirty="0"/>
              <a:t> market inequality due to unpaid </a:t>
            </a:r>
            <a:r>
              <a:rPr lang="en-US" b="1" noProof="0" dirty="0" err="1"/>
              <a:t>labour</a:t>
            </a:r>
            <a:endParaRPr lang="en-US" b="1" noProof="0" dirty="0"/>
          </a:p>
          <a:p>
            <a:pPr>
              <a:lnSpc>
                <a:spcPct val="90000"/>
              </a:lnSpc>
            </a:pPr>
            <a:endParaRPr lang="en-US" sz="1800" noProof="0" dirty="0"/>
          </a:p>
        </p:txBody>
      </p:sp>
      <p:pic>
        <p:nvPicPr>
          <p:cNvPr id="1028" name="Picture 4" descr="Proof of Concept 2025 DL1">
            <a:extLst>
              <a:ext uri="{FF2B5EF4-FFF2-40B4-BE49-F238E27FC236}">
                <a16:creationId xmlns:a16="http://schemas.microsoft.com/office/drawing/2014/main" id="{865444EC-B5E6-359D-C1BF-023FD8924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7" r="18340" b="1"/>
          <a:stretch>
            <a:fillRect/>
          </a:stretch>
        </p:blipFill>
        <p:spPr bwMode="auto">
          <a:xfrm>
            <a:off x="6217200" y="1656000"/>
            <a:ext cx="5400000" cy="44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05CC48E-E4F0-8653-D29E-233A3449A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Objective </a:t>
            </a:r>
          </a:p>
        </p:txBody>
      </p:sp>
    </p:spTree>
    <p:extLst>
      <p:ext uri="{BB962C8B-B14F-4D97-AF65-F5344CB8AC3E}">
        <p14:creationId xmlns:p14="http://schemas.microsoft.com/office/powerpoint/2010/main" val="405175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CDF9-A6E8-59F0-01A8-CCE9B413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047D59-3B57-0002-7D35-88F983CF1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800" y="1359036"/>
            <a:ext cx="6066030" cy="499496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buAutoNum type="arabicPeriod"/>
            </a:pPr>
            <a:r>
              <a:rPr lang="en-US" sz="1900" noProof="0" dirty="0"/>
              <a:t>To harness the utility of the </a:t>
            </a:r>
            <a:r>
              <a:rPr lang="en-US" sz="1900" noProof="0" dirty="0" err="1"/>
              <a:t>ResPecTMe</a:t>
            </a:r>
            <a:r>
              <a:rPr lang="en-US" sz="1900" noProof="0" dirty="0"/>
              <a:t> unpaid </a:t>
            </a:r>
            <a:r>
              <a:rPr lang="en-US" sz="1900" noProof="0" dirty="0" err="1"/>
              <a:t>labour</a:t>
            </a:r>
            <a:r>
              <a:rPr lang="en-US" sz="1900" noProof="0" dirty="0"/>
              <a:t> survey module along time, material, immaterial dimensions which caters to;</a:t>
            </a:r>
          </a:p>
          <a:p>
            <a:pPr marL="800100" lvl="1" indent="-342900">
              <a:lnSpc>
                <a:spcPct val="90000"/>
              </a:lnSpc>
              <a:buFont typeface="+mj-lt"/>
              <a:buAutoNum type="alphaLcPeriod"/>
            </a:pPr>
            <a:r>
              <a:rPr lang="en-US" sz="1900" b="1" noProof="0" dirty="0" err="1"/>
              <a:t>Eurofound</a:t>
            </a:r>
            <a:r>
              <a:rPr lang="en-US" sz="1900" b="1" noProof="0" dirty="0"/>
              <a:t> &amp; ILO </a:t>
            </a:r>
            <a:r>
              <a:rPr lang="en-US" sz="1900" noProof="0" dirty="0"/>
              <a:t>by an Open cross-national </a:t>
            </a:r>
            <a:r>
              <a:rPr lang="en-US" sz="1900" noProof="0" dirty="0" err="1"/>
              <a:t>harmonised</a:t>
            </a:r>
            <a:r>
              <a:rPr lang="en-US" sz="1900" noProof="0" dirty="0"/>
              <a:t> database along 3 dimensions;</a:t>
            </a:r>
          </a:p>
          <a:p>
            <a:pPr marL="800100" lvl="1" indent="-342900">
              <a:lnSpc>
                <a:spcPct val="90000"/>
              </a:lnSpc>
              <a:buFont typeface="+mj-lt"/>
              <a:buAutoNum type="alphaLcPeriod"/>
            </a:pPr>
            <a:r>
              <a:rPr lang="en-US" sz="1900" b="1" noProof="0" dirty="0" err="1"/>
              <a:t>Eurofound</a:t>
            </a:r>
            <a:r>
              <a:rPr lang="en-US" sz="1900" b="1" noProof="0" dirty="0"/>
              <a:t> &amp; ILO &amp; ETUI (Research) </a:t>
            </a:r>
            <a:r>
              <a:rPr lang="en-US" sz="1900" noProof="0" dirty="0"/>
              <a:t>by policy recommendations based upon the monitoring of shifts in </a:t>
            </a:r>
            <a:r>
              <a:rPr lang="en-US" sz="1900" noProof="0" dirty="0" err="1"/>
              <a:t>labour</a:t>
            </a:r>
            <a:r>
              <a:rPr lang="en-US" sz="1900" noProof="0" dirty="0"/>
              <a:t> market inequality due to unpaid </a:t>
            </a:r>
            <a:r>
              <a:rPr lang="en-US" sz="1900" noProof="0" dirty="0" err="1"/>
              <a:t>labour</a:t>
            </a:r>
            <a:r>
              <a:rPr lang="en-US" sz="1900" noProof="0" dirty="0"/>
              <a:t>; </a:t>
            </a:r>
          </a:p>
          <a:p>
            <a:pPr marL="342900" indent="-342900">
              <a:lnSpc>
                <a:spcPct val="90000"/>
              </a:lnSpc>
              <a:buAutoNum type="arabicPeriod"/>
            </a:pPr>
            <a:endParaRPr lang="en-US" sz="1800" noProof="0" dirty="0"/>
          </a:p>
          <a:p>
            <a:pPr marL="342900" indent="-342900">
              <a:lnSpc>
                <a:spcPct val="90000"/>
              </a:lnSpc>
              <a:buAutoNum type="arabicPeriod"/>
            </a:pPr>
            <a:r>
              <a:rPr lang="en-US" sz="1900" noProof="0" dirty="0"/>
              <a:t>To develop a </a:t>
            </a:r>
            <a:r>
              <a:rPr lang="en-US" sz="1900" b="1" noProof="0" dirty="0"/>
              <a:t>Toolkit</a:t>
            </a:r>
            <a:r>
              <a:rPr lang="en-US" sz="1900" noProof="0" dirty="0"/>
              <a:t> of unpaid </a:t>
            </a:r>
            <a:r>
              <a:rPr lang="en-US" sz="1900" noProof="0" dirty="0" err="1"/>
              <a:t>labour</a:t>
            </a:r>
            <a:r>
              <a:rPr lang="en-US" sz="1900" noProof="0" dirty="0"/>
              <a:t> will cater to: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b="1" noProof="0" dirty="0"/>
              <a:t>ETUI,</a:t>
            </a:r>
            <a:r>
              <a:rPr lang="en-US" sz="1900" noProof="0" dirty="0"/>
              <a:t> to train unions, workers representatives on bargaining about working time reduction. 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b="1" noProof="0" dirty="0"/>
              <a:t>SOLIDAR</a:t>
            </a:r>
            <a:r>
              <a:rPr lang="en-US" sz="1900" noProof="0" dirty="0"/>
              <a:t> to empower workers by raising awareness on unpaid </a:t>
            </a:r>
            <a:r>
              <a:rPr lang="en-US" sz="1900" noProof="0" dirty="0" err="1"/>
              <a:t>labour</a:t>
            </a:r>
            <a:r>
              <a:rPr lang="en-US" sz="1900" noProof="0" dirty="0"/>
              <a:t> across formal/informal work settings</a:t>
            </a:r>
          </a:p>
        </p:txBody>
      </p:sp>
      <p:pic>
        <p:nvPicPr>
          <p:cNvPr id="1028" name="Picture 4" descr="Proof of Concept 2025 DL1">
            <a:extLst>
              <a:ext uri="{FF2B5EF4-FFF2-40B4-BE49-F238E27FC236}">
                <a16:creationId xmlns:a16="http://schemas.microsoft.com/office/drawing/2014/main" id="{01A9AA02-8B47-E4AD-545C-AA9B3F35F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7" r="18340" b="1"/>
          <a:stretch>
            <a:fillRect/>
          </a:stretch>
        </p:blipFill>
        <p:spPr bwMode="auto">
          <a:xfrm>
            <a:off x="6640830" y="1487358"/>
            <a:ext cx="5400000" cy="44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5155198-66A5-A5C6-5621-BFAB321E1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Two stages</a:t>
            </a:r>
          </a:p>
        </p:txBody>
      </p:sp>
    </p:spTree>
    <p:extLst>
      <p:ext uri="{BB962C8B-B14F-4D97-AF65-F5344CB8AC3E}">
        <p14:creationId xmlns:p14="http://schemas.microsoft.com/office/powerpoint/2010/main" val="299001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C85CAA-A61B-74E6-96B9-9D8BC21F3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30" y="58446"/>
            <a:ext cx="12090690" cy="1152000"/>
          </a:xfrm>
        </p:spPr>
        <p:txBody>
          <a:bodyPr>
            <a:normAutofit/>
          </a:bodyPr>
          <a:lstStyle/>
          <a:p>
            <a:r>
              <a:rPr lang="en-US" sz="2900" noProof="0" dirty="0">
                <a:solidFill>
                  <a:schemeClr val="tx2">
                    <a:lumMod val="75000"/>
                  </a:schemeClr>
                </a:solidFill>
              </a:rPr>
              <a:t>From </a:t>
            </a:r>
            <a:r>
              <a:rPr lang="en-US" sz="2900" b="1" noProof="0" dirty="0">
                <a:solidFill>
                  <a:schemeClr val="tx2">
                    <a:lumMod val="75000"/>
                  </a:schemeClr>
                </a:solidFill>
              </a:rPr>
              <a:t>Ground-breaking Research </a:t>
            </a:r>
            <a:r>
              <a:rPr lang="en-US" sz="2900" noProof="0" dirty="0">
                <a:solidFill>
                  <a:schemeClr val="tx2">
                    <a:lumMod val="75000"/>
                  </a:schemeClr>
                </a:solidFill>
              </a:rPr>
              <a:t>towards </a:t>
            </a:r>
            <a:r>
              <a:rPr lang="en-US" sz="2900" b="1" noProof="0" dirty="0">
                <a:solidFill>
                  <a:schemeClr val="tx2">
                    <a:lumMod val="75000"/>
                  </a:schemeClr>
                </a:solidFill>
              </a:rPr>
              <a:t>Innovation: What &amp; Whom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6E170E-78AF-EBE9-4DEB-99D289B71314}"/>
              </a:ext>
            </a:extLst>
          </p:cNvPr>
          <p:cNvSpPr/>
          <p:nvPr/>
        </p:nvSpPr>
        <p:spPr>
          <a:xfrm>
            <a:off x="84510" y="1422198"/>
            <a:ext cx="2784420" cy="374416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8A5B18-567E-0B89-6E78-30FE12365EEC}"/>
              </a:ext>
            </a:extLst>
          </p:cNvPr>
          <p:cNvSpPr/>
          <p:nvPr/>
        </p:nvSpPr>
        <p:spPr>
          <a:xfrm>
            <a:off x="3106710" y="1422198"/>
            <a:ext cx="2784420" cy="374416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427FD2-DE96-CDC0-CDA1-85C1FB44D5F1}"/>
              </a:ext>
            </a:extLst>
          </p:cNvPr>
          <p:cNvSpPr/>
          <p:nvPr/>
        </p:nvSpPr>
        <p:spPr>
          <a:xfrm>
            <a:off x="6096000" y="1422198"/>
            <a:ext cx="2784420" cy="374416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99DCA3-5AC3-B02D-7008-C615880D5578}"/>
              </a:ext>
            </a:extLst>
          </p:cNvPr>
          <p:cNvSpPr/>
          <p:nvPr/>
        </p:nvSpPr>
        <p:spPr>
          <a:xfrm>
            <a:off x="9131880" y="1451070"/>
            <a:ext cx="2784420" cy="3715290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320EC-464C-45A4-768E-7DC1C21FD326}"/>
              </a:ext>
            </a:extLst>
          </p:cNvPr>
          <p:cNvSpPr txBox="1"/>
          <p:nvPr/>
        </p:nvSpPr>
        <p:spPr>
          <a:xfrm>
            <a:off x="144600" y="1496790"/>
            <a:ext cx="27243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Objective 1: Open Database</a:t>
            </a:r>
          </a:p>
          <a:p>
            <a:endParaRPr lang="en-US" b="1" noProof="0" dirty="0"/>
          </a:p>
          <a:p>
            <a:r>
              <a:rPr lang="en-US" b="1" noProof="0" dirty="0"/>
              <a:t>To develop </a:t>
            </a:r>
            <a:r>
              <a:rPr lang="en-US" noProof="0" dirty="0"/>
              <a:t>the Open </a:t>
            </a:r>
            <a:r>
              <a:rPr lang="en-US" noProof="0" dirty="0" err="1"/>
              <a:t>harmonised</a:t>
            </a:r>
            <a:r>
              <a:rPr lang="en-US" noProof="0" dirty="0"/>
              <a:t> cross-national database (OD) based upon the time, material, immaterial dimensions of the survey module of unpaid </a:t>
            </a:r>
            <a:r>
              <a:rPr lang="en-US" noProof="0" dirty="0" err="1"/>
              <a:t>labour</a:t>
            </a:r>
            <a:r>
              <a:rPr lang="en-US" noProof="0" dirty="0"/>
              <a:t>.</a:t>
            </a:r>
          </a:p>
          <a:p>
            <a:endParaRPr lang="en-US" noProof="0" dirty="0"/>
          </a:p>
          <a:p>
            <a:endParaRPr lang="en-US" b="1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8BC44-3903-1BDF-9777-5C7C415E7EDB}"/>
              </a:ext>
            </a:extLst>
          </p:cNvPr>
          <p:cNvSpPr txBox="1"/>
          <p:nvPr/>
        </p:nvSpPr>
        <p:spPr>
          <a:xfrm>
            <a:off x="3284745" y="1451070"/>
            <a:ext cx="28410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Objective 2: Macro-social turn</a:t>
            </a:r>
          </a:p>
          <a:p>
            <a:endParaRPr lang="en-US" b="1" noProof="0" dirty="0"/>
          </a:p>
          <a:p>
            <a:r>
              <a:rPr lang="en-US" b="1" noProof="0" dirty="0"/>
              <a:t>To </a:t>
            </a:r>
            <a:r>
              <a:rPr lang="en-US" b="1" noProof="0" dirty="0" err="1"/>
              <a:t>analyse</a:t>
            </a:r>
            <a:r>
              <a:rPr lang="en-US" b="1" noProof="0" dirty="0"/>
              <a:t> </a:t>
            </a:r>
            <a:r>
              <a:rPr lang="en-US" noProof="0" dirty="0"/>
              <a:t>socio-demographic, occupational differences at individual level of unpaid dimensions &amp; connect those to macro-level </a:t>
            </a:r>
            <a:r>
              <a:rPr lang="en-US" noProof="0" dirty="0" err="1"/>
              <a:t>labour</a:t>
            </a:r>
            <a:r>
              <a:rPr lang="en-US" noProof="0" dirty="0"/>
              <a:t> market, welfare variables per studied country. </a:t>
            </a:r>
          </a:p>
          <a:p>
            <a:endParaRPr lang="en-US" noProof="0" dirty="0"/>
          </a:p>
          <a:p>
            <a:endParaRPr lang="en-US" b="1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179CEB-748A-7A0E-506C-A5CBE78F4CA9}"/>
              </a:ext>
            </a:extLst>
          </p:cNvPr>
          <p:cNvSpPr txBox="1"/>
          <p:nvPr/>
        </p:nvSpPr>
        <p:spPr>
          <a:xfrm>
            <a:off x="6333779" y="1514232"/>
            <a:ext cx="26032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Objective 3: Toolkit</a:t>
            </a:r>
          </a:p>
          <a:p>
            <a:endParaRPr lang="en-US" b="1" noProof="0" dirty="0"/>
          </a:p>
          <a:p>
            <a:endParaRPr lang="en-US" b="1" noProof="0" dirty="0"/>
          </a:p>
          <a:p>
            <a:r>
              <a:rPr lang="en-US" b="1" noProof="0" dirty="0"/>
              <a:t>To create </a:t>
            </a:r>
            <a:r>
              <a:rPr lang="en-US" noProof="0" dirty="0"/>
              <a:t>a Toolkit of unpaid </a:t>
            </a:r>
            <a:r>
              <a:rPr lang="en-US" noProof="0" dirty="0" err="1"/>
              <a:t>labour</a:t>
            </a:r>
            <a:r>
              <a:rPr lang="en-US" noProof="0" dirty="0"/>
              <a:t> consisting of train-the-trainer materials &amp; learning nuggets. (animated video, audio, text) on unpaid </a:t>
            </a:r>
            <a:r>
              <a:rPr lang="en-US" noProof="0" dirty="0" err="1"/>
              <a:t>labour</a:t>
            </a:r>
            <a:r>
              <a:rPr lang="en-US" noProof="0" dirty="0"/>
              <a:t> time &amp; relationship with work-life conflict;</a:t>
            </a:r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33606C-F983-FBD7-B541-9F4837AC9296}"/>
              </a:ext>
            </a:extLst>
          </p:cNvPr>
          <p:cNvSpPr txBox="1"/>
          <p:nvPr/>
        </p:nvSpPr>
        <p:spPr>
          <a:xfrm>
            <a:off x="9131880" y="1514232"/>
            <a:ext cx="27676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Objective 4: Knowledge transfer &amp; innovation </a:t>
            </a:r>
          </a:p>
          <a:p>
            <a:endParaRPr lang="en-US" b="1" noProof="0" dirty="0"/>
          </a:p>
          <a:p>
            <a:r>
              <a:rPr lang="en-US" b="1" noProof="0" dirty="0"/>
              <a:t>To transfer </a:t>
            </a:r>
            <a:r>
              <a:rPr lang="en-US" noProof="0" dirty="0"/>
              <a:t>knowledge from OD to useful policy (recommendations) and innovation (toolkit) by involving end-users into the testing &amp; validation phases.</a:t>
            </a:r>
          </a:p>
          <a:p>
            <a:endParaRPr lang="en-US" b="1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A0C94E-5D98-1913-2CF5-71D790956B45}"/>
              </a:ext>
            </a:extLst>
          </p:cNvPr>
          <p:cNvSpPr/>
          <p:nvPr/>
        </p:nvSpPr>
        <p:spPr>
          <a:xfrm>
            <a:off x="185130" y="5364778"/>
            <a:ext cx="5673092" cy="670802"/>
          </a:xfrm>
          <a:prstGeom prst="rect">
            <a:avLst/>
          </a:prstGeom>
          <a:ln>
            <a:solidFill>
              <a:schemeClr val="tx2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821CA0-FF6D-C12D-57E8-CCC5DF2DFFDE}"/>
              </a:ext>
            </a:extLst>
          </p:cNvPr>
          <p:cNvSpPr txBox="1"/>
          <p:nvPr/>
        </p:nvSpPr>
        <p:spPr>
          <a:xfrm>
            <a:off x="404124" y="5394814"/>
            <a:ext cx="5662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End Users: </a:t>
            </a:r>
            <a:r>
              <a:rPr lang="en-US" b="1" noProof="0" dirty="0" err="1"/>
              <a:t>Eurofound</a:t>
            </a:r>
            <a:r>
              <a:rPr lang="en-US" b="1" noProof="0" dirty="0"/>
              <a:t> &amp; ILO; </a:t>
            </a:r>
          </a:p>
          <a:p>
            <a:r>
              <a:rPr lang="en-US" b="1" noProof="0" dirty="0"/>
              <a:t>Possible: ETUI (Research) &amp; Leeds University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EA8220-515C-9201-0C97-E4AD8D416488}"/>
              </a:ext>
            </a:extLst>
          </p:cNvPr>
          <p:cNvSpPr/>
          <p:nvPr/>
        </p:nvSpPr>
        <p:spPr>
          <a:xfrm>
            <a:off x="6125790" y="5343768"/>
            <a:ext cx="5773710" cy="670802"/>
          </a:xfrm>
          <a:prstGeom prst="rect">
            <a:avLst/>
          </a:prstGeom>
          <a:ln>
            <a:solidFill>
              <a:schemeClr val="tx2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0C0A64-CF9B-A619-59CE-0A70117E8233}"/>
              </a:ext>
            </a:extLst>
          </p:cNvPr>
          <p:cNvSpPr txBox="1"/>
          <p:nvPr/>
        </p:nvSpPr>
        <p:spPr>
          <a:xfrm>
            <a:off x="6274037" y="5356003"/>
            <a:ext cx="5893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End Users: ETUI (Education/Research), SOLIDAR; </a:t>
            </a:r>
            <a:r>
              <a:rPr lang="en-US" b="1" dirty="0"/>
              <a:t>P</a:t>
            </a:r>
            <a:r>
              <a:rPr lang="en-US" b="1" noProof="0" dirty="0" err="1"/>
              <a:t>ossible</a:t>
            </a:r>
            <a:r>
              <a:rPr lang="en-US" b="1" noProof="0"/>
              <a:t>: </a:t>
            </a:r>
            <a:r>
              <a:rPr lang="en-US" b="1" noProof="0" dirty="0" err="1"/>
              <a:t>Eurofound</a:t>
            </a:r>
            <a:r>
              <a:rPr lang="en-US" b="1" noProof="0" dirty="0"/>
              <a:t>, ILO</a:t>
            </a:r>
          </a:p>
        </p:txBody>
      </p:sp>
    </p:spTree>
    <p:extLst>
      <p:ext uri="{BB962C8B-B14F-4D97-AF65-F5344CB8AC3E}">
        <p14:creationId xmlns:p14="http://schemas.microsoft.com/office/powerpoint/2010/main" val="150606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DD4A0-2E4E-0341-5548-CF2D608EE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3A7490-8CD9-6973-B057-6ED1D3D56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30" y="207036"/>
            <a:ext cx="11432070" cy="1152000"/>
          </a:xfrm>
        </p:spPr>
        <p:txBody>
          <a:bodyPr>
            <a:normAutofit/>
          </a:bodyPr>
          <a:lstStyle/>
          <a:p>
            <a:r>
              <a:rPr lang="en-US" b="1" noProof="0" dirty="0" err="1">
                <a:solidFill>
                  <a:schemeClr val="tx2">
                    <a:lumMod val="75000"/>
                  </a:schemeClr>
                </a:solidFill>
              </a:rPr>
              <a:t>Eurofound</a:t>
            </a:r>
            <a:r>
              <a:rPr lang="en-US" b="1" noProof="0" dirty="0">
                <a:solidFill>
                  <a:schemeClr val="tx2">
                    <a:lumMod val="75000"/>
                  </a:schemeClr>
                </a:solidFill>
              </a:rPr>
              <a:t> &amp; ILO involvement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32F44D-92BE-C14B-D68F-08137119DA84}"/>
              </a:ext>
            </a:extLst>
          </p:cNvPr>
          <p:cNvSpPr/>
          <p:nvPr/>
        </p:nvSpPr>
        <p:spPr>
          <a:xfrm>
            <a:off x="84510" y="1422198"/>
            <a:ext cx="2784420" cy="374416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668558-EB6E-43E1-52B5-F42EC95FA3DF}"/>
              </a:ext>
            </a:extLst>
          </p:cNvPr>
          <p:cNvSpPr/>
          <p:nvPr/>
        </p:nvSpPr>
        <p:spPr>
          <a:xfrm>
            <a:off x="3106710" y="1422198"/>
            <a:ext cx="2784420" cy="374416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EBADFC-07D5-6759-EFE3-C52B5E077A74}"/>
              </a:ext>
            </a:extLst>
          </p:cNvPr>
          <p:cNvSpPr txBox="1"/>
          <p:nvPr/>
        </p:nvSpPr>
        <p:spPr>
          <a:xfrm>
            <a:off x="144600" y="1496790"/>
            <a:ext cx="27243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Objective 1: Open Database</a:t>
            </a:r>
          </a:p>
          <a:p>
            <a:endParaRPr lang="en-US" b="1" noProof="0" dirty="0"/>
          </a:p>
          <a:p>
            <a:r>
              <a:rPr lang="en-US" b="1" noProof="0" dirty="0"/>
              <a:t>To develop </a:t>
            </a:r>
            <a:r>
              <a:rPr lang="en-US" noProof="0" dirty="0"/>
              <a:t>the Open </a:t>
            </a:r>
            <a:r>
              <a:rPr lang="en-US" noProof="0" dirty="0" err="1"/>
              <a:t>harmonised</a:t>
            </a:r>
            <a:r>
              <a:rPr lang="en-US" noProof="0" dirty="0"/>
              <a:t> cross-national database (OD) based upon the time, material, immaterial dimensions of the survey module of unpaid </a:t>
            </a:r>
            <a:r>
              <a:rPr lang="en-US" noProof="0" dirty="0" err="1"/>
              <a:t>labour</a:t>
            </a:r>
            <a:r>
              <a:rPr lang="en-US" noProof="0" dirty="0"/>
              <a:t>.</a:t>
            </a:r>
          </a:p>
          <a:p>
            <a:endParaRPr lang="en-US" noProof="0" dirty="0"/>
          </a:p>
          <a:p>
            <a:endParaRPr lang="en-US" b="1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01F5DE-A2B1-ECC7-C253-5A0596915045}"/>
              </a:ext>
            </a:extLst>
          </p:cNvPr>
          <p:cNvSpPr txBox="1"/>
          <p:nvPr/>
        </p:nvSpPr>
        <p:spPr>
          <a:xfrm>
            <a:off x="3278672" y="1533055"/>
            <a:ext cx="28410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Objective 2: Macro-social turn</a:t>
            </a:r>
          </a:p>
          <a:p>
            <a:endParaRPr lang="en-US" b="1" noProof="0" dirty="0"/>
          </a:p>
          <a:p>
            <a:r>
              <a:rPr lang="en-US" b="1" noProof="0" dirty="0"/>
              <a:t>To </a:t>
            </a:r>
            <a:r>
              <a:rPr lang="en-US" b="1" noProof="0" dirty="0" err="1"/>
              <a:t>analyse</a:t>
            </a:r>
            <a:r>
              <a:rPr lang="en-US" b="1" noProof="0" dirty="0"/>
              <a:t> </a:t>
            </a:r>
            <a:r>
              <a:rPr lang="en-US" noProof="0" dirty="0"/>
              <a:t>socio-demographic, occupational differences at individual level of unpaid dimensions &amp; connect those to macro-level </a:t>
            </a:r>
            <a:r>
              <a:rPr lang="en-US" noProof="0" dirty="0" err="1"/>
              <a:t>labour</a:t>
            </a:r>
            <a:r>
              <a:rPr lang="en-US" noProof="0" dirty="0"/>
              <a:t> market, welfare variables per studied country. </a:t>
            </a:r>
          </a:p>
          <a:p>
            <a:endParaRPr lang="en-US" noProof="0" dirty="0"/>
          </a:p>
          <a:p>
            <a:endParaRPr lang="en-US" b="1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771738-3F5C-493F-9DEC-D3ED54E26714}"/>
              </a:ext>
            </a:extLst>
          </p:cNvPr>
          <p:cNvSpPr/>
          <p:nvPr/>
        </p:nvSpPr>
        <p:spPr>
          <a:xfrm>
            <a:off x="327660" y="5599134"/>
            <a:ext cx="11616690" cy="494389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478174-7B38-D344-DFA7-99341FD77B8C}"/>
              </a:ext>
            </a:extLst>
          </p:cNvPr>
          <p:cNvSpPr txBox="1"/>
          <p:nvPr/>
        </p:nvSpPr>
        <p:spPr>
          <a:xfrm>
            <a:off x="695850" y="5631858"/>
            <a:ext cx="923682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/>
              <a:t>End Users: </a:t>
            </a:r>
            <a:r>
              <a:rPr lang="en-US" sz="2400" b="1" noProof="0" dirty="0" err="1"/>
              <a:t>Eurofound</a:t>
            </a:r>
            <a:r>
              <a:rPr lang="en-US" sz="2400" b="1" noProof="0" dirty="0"/>
              <a:t> &amp; ILO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3A206A-C5F7-8F3F-F91F-D756A96F70A5}"/>
              </a:ext>
            </a:extLst>
          </p:cNvPr>
          <p:cNvSpPr/>
          <p:nvPr/>
        </p:nvSpPr>
        <p:spPr>
          <a:xfrm>
            <a:off x="6063092" y="1074420"/>
            <a:ext cx="5984308" cy="4428953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38467-C2FB-E4AD-ECFE-C7FA4F097C68}"/>
              </a:ext>
            </a:extLst>
          </p:cNvPr>
          <p:cNvSpPr txBox="1"/>
          <p:nvPr/>
        </p:nvSpPr>
        <p:spPr>
          <a:xfrm>
            <a:off x="6128910" y="1166842"/>
            <a:ext cx="59785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noProof="0" dirty="0"/>
              <a:t>Making the database open &amp; survey module ready to be deployed (Month 1-7) &amp; Technical Report (TR) &amp; Policy Report (M5-12)</a:t>
            </a:r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Developing</a:t>
            </a:r>
            <a:r>
              <a:rPr lang="en-US" sz="1600" noProof="0" dirty="0"/>
              <a:t> the </a:t>
            </a:r>
            <a:r>
              <a:rPr lang="en-US" sz="1600" b="1" noProof="0" dirty="0" err="1"/>
              <a:t>harmonised</a:t>
            </a:r>
            <a:r>
              <a:rPr lang="en-US" sz="1600" b="1" noProof="0" dirty="0"/>
              <a:t> cross-national database </a:t>
            </a:r>
            <a:r>
              <a:rPr lang="en-US" sz="1600" noProof="0" dirty="0"/>
              <a:t>(KU Leuven) </a:t>
            </a:r>
            <a:r>
              <a:rPr lang="en-US" sz="1600" b="1" noProof="0" dirty="0"/>
              <a:t>(M1-6)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Making</a:t>
            </a:r>
            <a:r>
              <a:rPr lang="en-US" sz="1600" noProof="0" dirty="0"/>
              <a:t> the </a:t>
            </a:r>
            <a:r>
              <a:rPr lang="en-US" sz="1600" b="1" noProof="0" dirty="0"/>
              <a:t>database open and available </a:t>
            </a:r>
            <a:r>
              <a:rPr lang="en-US" sz="1600" noProof="0" dirty="0"/>
              <a:t>(</a:t>
            </a:r>
            <a:r>
              <a:rPr lang="en-US" sz="1600" noProof="0" dirty="0" err="1"/>
              <a:t>Eurofound</a:t>
            </a:r>
            <a:r>
              <a:rPr lang="en-US" sz="1600" noProof="0" dirty="0"/>
              <a:t> &amp; ILO through data repository archive, e.g., UK data service, </a:t>
            </a:r>
            <a:r>
              <a:rPr lang="en-US" sz="1600" noProof="0" dirty="0" err="1"/>
              <a:t>Gesis</a:t>
            </a:r>
            <a:r>
              <a:rPr lang="en-US" sz="1600" noProof="0" dirty="0"/>
              <a:t>, Sodha or website) </a:t>
            </a:r>
            <a:r>
              <a:rPr lang="en-US" sz="1600" b="1" noProof="0" dirty="0"/>
              <a:t>(M6-7)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Developing the multi-group LC analysis </a:t>
            </a:r>
            <a:r>
              <a:rPr lang="en-US" sz="1600" noProof="0" dirty="0"/>
              <a:t>(macro social turn) (KU Leuven) </a:t>
            </a:r>
            <a:r>
              <a:rPr lang="en-US" sz="1600" b="1" noProof="0" dirty="0"/>
              <a:t>(M7-12)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Developing &amp; Making publicly </a:t>
            </a:r>
            <a:r>
              <a:rPr lang="en-US" sz="1600" noProof="0" dirty="0"/>
              <a:t>open the methodologies (i.e., </a:t>
            </a:r>
            <a:r>
              <a:rPr lang="en-US" sz="1600" b="1" noProof="0" dirty="0"/>
              <a:t>Technical report</a:t>
            </a:r>
            <a:r>
              <a:rPr lang="en-US" sz="1600" noProof="0" dirty="0"/>
              <a:t>) &amp; survey module through website, publication, webinars (KUL with </a:t>
            </a:r>
            <a:r>
              <a:rPr lang="en-US" sz="1600" noProof="0" dirty="0" err="1"/>
              <a:t>Eurofound</a:t>
            </a:r>
            <a:r>
              <a:rPr lang="en-US" sz="1600" noProof="0" dirty="0"/>
              <a:t> (webinar TR)/ILO) </a:t>
            </a:r>
            <a:r>
              <a:rPr lang="en-US" sz="1600" b="1" noProof="0" dirty="0"/>
              <a:t>(M8-12)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Developing</a:t>
            </a:r>
            <a:r>
              <a:rPr lang="en-US" sz="1600" dirty="0"/>
              <a:t> </a:t>
            </a:r>
            <a:r>
              <a:rPr lang="en-US" sz="1600" b="1" dirty="0"/>
              <a:t>Policy report </a:t>
            </a:r>
            <a:r>
              <a:rPr lang="en-US" sz="1600" dirty="0"/>
              <a:t>on macro social turn to disseminate to stakeholders (KU Leuven with ILO (webinar or workshop)/</a:t>
            </a:r>
            <a:r>
              <a:rPr lang="en-US" sz="1600" dirty="0" err="1"/>
              <a:t>Eurofound</a:t>
            </a:r>
            <a:r>
              <a:rPr lang="en-US" sz="1600" dirty="0"/>
              <a:t>) </a:t>
            </a:r>
            <a:r>
              <a:rPr lang="en-US" sz="1600" b="1" dirty="0"/>
              <a:t>(M5-12)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98636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1B02E-933F-15FE-3888-18AEEAEE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4F6502-F28A-62FD-08D8-4AD30D4C6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30" y="207036"/>
            <a:ext cx="12227850" cy="1152000"/>
          </a:xfrm>
        </p:spPr>
        <p:txBody>
          <a:bodyPr>
            <a:normAutofit/>
          </a:bodyPr>
          <a:lstStyle/>
          <a:p>
            <a:r>
              <a:rPr lang="en-US" sz="3400" b="1" noProof="0" dirty="0">
                <a:solidFill>
                  <a:schemeClr val="tx2">
                    <a:lumMod val="75000"/>
                  </a:schemeClr>
                </a:solidFill>
              </a:rPr>
              <a:t>ETUI (Education/Research), SOLIDAR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ED8124-BF01-A216-091E-7E298E38DA8C}"/>
              </a:ext>
            </a:extLst>
          </p:cNvPr>
          <p:cNvSpPr/>
          <p:nvPr/>
        </p:nvSpPr>
        <p:spPr>
          <a:xfrm>
            <a:off x="84510" y="1422198"/>
            <a:ext cx="2784420" cy="374416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14C4CBA-F92B-C2E2-D7C8-0815916C9875}"/>
              </a:ext>
            </a:extLst>
          </p:cNvPr>
          <p:cNvSpPr/>
          <p:nvPr/>
        </p:nvSpPr>
        <p:spPr>
          <a:xfrm>
            <a:off x="3106710" y="1422198"/>
            <a:ext cx="2784420" cy="374416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8617C7-6BD9-BDAB-3A5F-7014A1CCB233}"/>
              </a:ext>
            </a:extLst>
          </p:cNvPr>
          <p:cNvSpPr/>
          <p:nvPr/>
        </p:nvSpPr>
        <p:spPr>
          <a:xfrm>
            <a:off x="255270" y="5467664"/>
            <a:ext cx="11748052" cy="679075"/>
          </a:xfrm>
          <a:prstGeom prst="rect">
            <a:avLst/>
          </a:prstGeom>
          <a:ln>
            <a:solidFill>
              <a:schemeClr val="tx2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BD168D-B374-2109-4333-9AD1FE182C9E}"/>
              </a:ext>
            </a:extLst>
          </p:cNvPr>
          <p:cNvSpPr txBox="1"/>
          <p:nvPr/>
        </p:nvSpPr>
        <p:spPr>
          <a:xfrm>
            <a:off x="603195" y="5571843"/>
            <a:ext cx="10985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/>
              <a:t>End Users: ETUI (Education/Research), SOLIDAR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5F7896-FD7A-4482-6F26-798073D0F45F}"/>
              </a:ext>
            </a:extLst>
          </p:cNvPr>
          <p:cNvSpPr/>
          <p:nvPr/>
        </p:nvSpPr>
        <p:spPr>
          <a:xfrm>
            <a:off x="6073912" y="1053229"/>
            <a:ext cx="6216360" cy="4247317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83884-0EF2-9A29-4176-9C94E41D7FBB}"/>
              </a:ext>
            </a:extLst>
          </p:cNvPr>
          <p:cNvSpPr txBox="1"/>
          <p:nvPr/>
        </p:nvSpPr>
        <p:spPr>
          <a:xfrm>
            <a:off x="255270" y="1514232"/>
            <a:ext cx="26032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Objective 3: Toolkit</a:t>
            </a:r>
          </a:p>
          <a:p>
            <a:endParaRPr lang="en-US" b="1" noProof="0" dirty="0"/>
          </a:p>
          <a:p>
            <a:endParaRPr lang="en-US" b="1" noProof="0" dirty="0"/>
          </a:p>
          <a:p>
            <a:r>
              <a:rPr lang="en-US" b="1" noProof="0" dirty="0"/>
              <a:t>To create </a:t>
            </a:r>
            <a:r>
              <a:rPr lang="en-US" noProof="0" dirty="0"/>
              <a:t>a Toolkit of unpaid </a:t>
            </a:r>
            <a:r>
              <a:rPr lang="en-US" noProof="0" dirty="0" err="1"/>
              <a:t>labour</a:t>
            </a:r>
            <a:r>
              <a:rPr lang="en-US" noProof="0" dirty="0"/>
              <a:t> consisting of train-the-trainer materials &amp; learning nuggets. (animated video, audio, text) on unpaid </a:t>
            </a:r>
            <a:r>
              <a:rPr lang="en-US" noProof="0" dirty="0" err="1"/>
              <a:t>labour</a:t>
            </a:r>
            <a:r>
              <a:rPr lang="en-US" noProof="0" dirty="0"/>
              <a:t> time &amp; relationship with work-life conflict;</a:t>
            </a:r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B00FD5-F8AA-44CC-C16C-DFA6B74D4377}"/>
              </a:ext>
            </a:extLst>
          </p:cNvPr>
          <p:cNvSpPr txBox="1"/>
          <p:nvPr/>
        </p:nvSpPr>
        <p:spPr>
          <a:xfrm>
            <a:off x="3163515" y="1557454"/>
            <a:ext cx="27676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Objective 4: Knowledge transfer &amp; innovation </a:t>
            </a:r>
          </a:p>
          <a:p>
            <a:endParaRPr lang="en-US" b="1" noProof="0" dirty="0"/>
          </a:p>
          <a:p>
            <a:r>
              <a:rPr lang="en-US" b="1" noProof="0" dirty="0"/>
              <a:t>To transfer </a:t>
            </a:r>
            <a:r>
              <a:rPr lang="en-US" noProof="0" dirty="0"/>
              <a:t>knowledge from OD to useful policy (recommendations) and innovation (toolkit) by involving end-users into the testing &amp; validation phases.</a:t>
            </a:r>
          </a:p>
          <a:p>
            <a:endParaRPr lang="en-US" b="1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414D87-8414-6D7A-4DED-32691B450F1B}"/>
              </a:ext>
            </a:extLst>
          </p:cNvPr>
          <p:cNvSpPr txBox="1"/>
          <p:nvPr/>
        </p:nvSpPr>
        <p:spPr>
          <a:xfrm>
            <a:off x="6128910" y="1534929"/>
            <a:ext cx="62373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noProof="0" dirty="0"/>
              <a:t>Develop the train-the-trainer as part of the Toolkit (Month 9-12) &amp; Learning Nuggets (Month 12-15)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Developing</a:t>
            </a:r>
            <a:r>
              <a:rPr lang="en-US" noProof="0" dirty="0"/>
              <a:t> a </a:t>
            </a:r>
            <a:r>
              <a:rPr lang="en-US" b="1" noProof="0" dirty="0"/>
              <a:t>Toolkit</a:t>
            </a:r>
            <a:r>
              <a:rPr lang="en-US" noProof="0" dirty="0"/>
              <a:t> (train-the-trainer materials  - text/brochure - &amp; learning nuggets of unpaid </a:t>
            </a:r>
            <a:r>
              <a:rPr lang="en-US" noProof="0" dirty="0" err="1"/>
              <a:t>labour</a:t>
            </a:r>
            <a:r>
              <a:rPr lang="en-US" noProof="0" dirty="0"/>
              <a:t>), multi-group LC analysis; (KU Leuven with ETUI, SOLIDAR) </a:t>
            </a:r>
            <a:r>
              <a:rPr lang="en-US" b="1" noProof="0" dirty="0"/>
              <a:t>(M8-12)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Developing Learning Nuggets </a:t>
            </a:r>
            <a:r>
              <a:rPr lang="en-US" noProof="0" dirty="0"/>
              <a:t>(KU Leuven with SOLIDAR who will make sure LN reach a broad range of workers in formal/informal work settings) </a:t>
            </a:r>
            <a:r>
              <a:rPr lang="en-US" b="1" noProof="0" dirty="0"/>
              <a:t>(M12-15)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205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number of text&#10;&#10;Description automatically generated with medium confidence">
            <a:extLst>
              <a:ext uri="{FF2B5EF4-FFF2-40B4-BE49-F238E27FC236}">
                <a16:creationId xmlns:a16="http://schemas.microsoft.com/office/drawing/2014/main" id="{6B6F169D-0DF3-420B-DAC3-7F3D63FC5FD1}"/>
              </a:ext>
            </a:extLst>
          </p:cNvPr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1851" y="1702755"/>
            <a:ext cx="11508297" cy="345249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62495CD1-E5B2-BB4B-1FEC-1BED22B6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51" y="207036"/>
            <a:ext cx="11275349" cy="1152000"/>
          </a:xfrm>
        </p:spPr>
        <p:txBody>
          <a:bodyPr/>
          <a:lstStyle/>
          <a:p>
            <a:r>
              <a:rPr lang="en-US" noProof="0" dirty="0"/>
              <a:t>The process: </a:t>
            </a:r>
            <a:r>
              <a:rPr lang="en-US" b="1" noProof="0" dirty="0"/>
              <a:t>What, When, How </a:t>
            </a:r>
          </a:p>
        </p:txBody>
      </p:sp>
    </p:spTree>
    <p:extLst>
      <p:ext uri="{BB962C8B-B14F-4D97-AF65-F5344CB8AC3E}">
        <p14:creationId xmlns:p14="http://schemas.microsoft.com/office/powerpoint/2010/main" val="681025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9DD002-C196-5478-C940-647ABCED4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Open database: </a:t>
            </a:r>
            <a:r>
              <a:rPr lang="en-US" noProof="0" dirty="0"/>
              <a:t>measurement of unpaid </a:t>
            </a:r>
            <a:r>
              <a:rPr lang="en-US" noProof="0" dirty="0" err="1"/>
              <a:t>labour</a:t>
            </a:r>
            <a:r>
              <a:rPr lang="en-US" noProof="0" dirty="0"/>
              <a:t>, socio-demographic and job-related characteristics, and related variables (work-life balance, feeling stigmatized…) across countries (FR, SE, NL, UK)</a:t>
            </a:r>
          </a:p>
          <a:p>
            <a:r>
              <a:rPr lang="en-US" b="1" noProof="0" dirty="0"/>
              <a:t>Technical report: </a:t>
            </a:r>
          </a:p>
          <a:p>
            <a:pPr lvl="1"/>
            <a:r>
              <a:rPr lang="en-US" noProof="0" dirty="0"/>
              <a:t>Methods: survey development, sampling, ethical considerations</a:t>
            </a:r>
          </a:p>
          <a:p>
            <a:pPr lvl="1"/>
            <a:r>
              <a:rPr lang="en-US" noProof="0" dirty="0"/>
              <a:t>Detailed codebook</a:t>
            </a:r>
          </a:p>
          <a:p>
            <a:pPr lvl="1"/>
            <a:r>
              <a:rPr lang="en-US" noProof="0" dirty="0"/>
              <a:t>Validation of the measurement of unpaid </a:t>
            </a:r>
            <a:r>
              <a:rPr lang="en-US" noProof="0" dirty="0" err="1"/>
              <a:t>labour</a:t>
            </a:r>
            <a:r>
              <a:rPr lang="en-US" noProof="0" dirty="0"/>
              <a:t> (different dimensions)</a:t>
            </a:r>
          </a:p>
          <a:p>
            <a:r>
              <a:rPr lang="en-US" b="1" noProof="0" dirty="0"/>
              <a:t>Technical report </a:t>
            </a:r>
            <a:r>
              <a:rPr lang="en-US" b="1" noProof="0" dirty="0" err="1"/>
              <a:t>ResPectMe</a:t>
            </a:r>
            <a:r>
              <a:rPr lang="en-US" noProof="0" dirty="0"/>
              <a:t>: </a:t>
            </a:r>
            <a:r>
              <a:rPr lang="en-US" noProof="0" dirty="0">
                <a:hlinkClick r:id="rId2"/>
              </a:rPr>
              <a:t>https://zenodo.org/records/15180621</a:t>
            </a:r>
            <a:r>
              <a:rPr lang="en-US" noProof="0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20C16B-EC8A-61E8-3E18-4BBA1FCF9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Technical report to the open database</a:t>
            </a:r>
          </a:p>
        </p:txBody>
      </p:sp>
    </p:spTree>
    <p:extLst>
      <p:ext uri="{BB962C8B-B14F-4D97-AF65-F5344CB8AC3E}">
        <p14:creationId xmlns:p14="http://schemas.microsoft.com/office/powerpoint/2010/main" val="1777230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39767-8F98-AF67-0B3C-5F54C90D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740229-E941-126F-BF06-95F49B3EF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Data not to be published via Open Research Europe</a:t>
            </a:r>
          </a:p>
          <a:p>
            <a:r>
              <a:rPr lang="en-US" noProof="0" dirty="0">
                <a:hlinkClick r:id="rId2"/>
              </a:rPr>
              <a:t>https://open-research-europe.ec.europa.eu/for-authors/article-guidelines/social-sciences/data-notes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321BFB-6315-CD88-B415-F5D76D00F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Technical report to the open database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73A41B-FFDA-281A-2A0A-D5DDD7A9D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35" y="2985455"/>
            <a:ext cx="7330503" cy="304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253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4C4E38-768D-4205-153E-0DE9D9383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E098D4-2988-5D86-30EA-594B85646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Unpaid Labour Dimensions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AB25AA-7506-1AEE-CEA8-D57B8AEDF495}"/>
              </a:ext>
            </a:extLst>
          </p:cNvPr>
          <p:cNvSpPr/>
          <p:nvPr/>
        </p:nvSpPr>
        <p:spPr>
          <a:xfrm>
            <a:off x="434432" y="1378552"/>
            <a:ext cx="3530684" cy="45575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DF0056-D9D7-EAFE-16F0-4A313157F635}"/>
              </a:ext>
            </a:extLst>
          </p:cNvPr>
          <p:cNvSpPr/>
          <p:nvPr/>
        </p:nvSpPr>
        <p:spPr>
          <a:xfrm>
            <a:off x="4260474" y="1359036"/>
            <a:ext cx="3530684" cy="4577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noProof="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8A4A54-32A5-4A21-C382-98938F9368CD}"/>
              </a:ext>
            </a:extLst>
          </p:cNvPr>
          <p:cNvSpPr/>
          <p:nvPr/>
        </p:nvSpPr>
        <p:spPr>
          <a:xfrm>
            <a:off x="8095310" y="1378552"/>
            <a:ext cx="3826042" cy="4577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33DE3E-AEF7-CB13-579F-CC137EACC087}"/>
              </a:ext>
            </a:extLst>
          </p:cNvPr>
          <p:cNvSpPr txBox="1"/>
          <p:nvPr/>
        </p:nvSpPr>
        <p:spPr>
          <a:xfrm>
            <a:off x="827314" y="1656000"/>
            <a:ext cx="27722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Unpaid Time 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Waiting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Communication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Administrative work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Traveling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Maintenance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Networking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Preparation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Training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CEBE5-7556-A190-A532-9F65B7FD0232}"/>
              </a:ext>
            </a:extLst>
          </p:cNvPr>
          <p:cNvSpPr txBox="1"/>
          <p:nvPr/>
        </p:nvSpPr>
        <p:spPr>
          <a:xfrm>
            <a:off x="4789714" y="1595021"/>
            <a:ext cx="2641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Unpaid Material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Transportation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Safety equipment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Clothing/ accessories Computer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Phone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Internet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Gifts or rewards for clients  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Working space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B489BD-EF82-14DA-E2C7-55845321B8FB}"/>
              </a:ext>
            </a:extLst>
          </p:cNvPr>
          <p:cNvSpPr txBox="1"/>
          <p:nvPr/>
        </p:nvSpPr>
        <p:spPr>
          <a:xfrm>
            <a:off x="8505371" y="1595021"/>
            <a:ext cx="31118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Unpaid Immaterial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Expressing untrue feelings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Pretending feelings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Hiding true feelings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Express feelings to others (customers/ employers/ colleagues) </a:t>
            </a:r>
          </a:p>
        </p:txBody>
      </p:sp>
    </p:spTree>
    <p:extLst>
      <p:ext uri="{BB962C8B-B14F-4D97-AF65-F5344CB8AC3E}">
        <p14:creationId xmlns:p14="http://schemas.microsoft.com/office/powerpoint/2010/main" val="357626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631C1D-A91E-91B3-510F-9B5A998A0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noProof="0" dirty="0"/>
              <a:t>Work intensification </a:t>
            </a:r>
            <a:r>
              <a:rPr lang="en-US" dirty="0"/>
              <a:t>&amp; Work </a:t>
            </a:r>
            <a:r>
              <a:rPr lang="en-US" noProof="0" dirty="0"/>
              <a:t>extensification (Unpaid Time &amp; Effort) &amp; Unpaid </a:t>
            </a:r>
            <a:r>
              <a:rPr lang="en-US" dirty="0"/>
              <a:t>T</a:t>
            </a:r>
            <a:r>
              <a:rPr lang="en-US" noProof="0" dirty="0"/>
              <a:t>asks</a:t>
            </a:r>
          </a:p>
          <a:p>
            <a:pPr marL="457200" indent="-457200">
              <a:buFont typeface="+mj-lt"/>
              <a:buAutoNum type="arabicPeriod"/>
            </a:pPr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More Items in </a:t>
            </a:r>
            <a:r>
              <a:rPr lang="en-US" noProof="0" dirty="0" err="1"/>
              <a:t>ResPecTMe</a:t>
            </a:r>
            <a:r>
              <a:rPr lang="en-US" noProof="0" dirty="0"/>
              <a:t> survey module TBD relevance for EWCS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E</a:t>
            </a:r>
            <a:r>
              <a:rPr lang="en-US" noProof="0" dirty="0"/>
              <a:t>motional </a:t>
            </a:r>
            <a:r>
              <a:rPr lang="en-US" noProof="0" dirty="0" err="1"/>
              <a:t>labour</a:t>
            </a:r>
            <a:endParaRPr lang="en-US" noProof="0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Motives to do unpaid </a:t>
            </a:r>
            <a:r>
              <a:rPr lang="en-US" dirty="0" err="1"/>
              <a:t>labour</a:t>
            </a:r>
            <a:r>
              <a:rPr lang="en-US" dirty="0"/>
              <a:t>: punishment/ future reward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R</a:t>
            </a:r>
            <a:r>
              <a:rPr lang="en-US" noProof="0" dirty="0" err="1"/>
              <a:t>ecognition</a:t>
            </a:r>
            <a:r>
              <a:rPr lang="en-US" noProof="0" dirty="0"/>
              <a:t> of work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839685-B4F9-8B29-EBA1-A23B8AAF3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ResPecTMe</a:t>
            </a:r>
            <a:r>
              <a:rPr lang="en-US" noProof="0" dirty="0"/>
              <a:t> survey module &amp; EWCS</a:t>
            </a:r>
          </a:p>
        </p:txBody>
      </p:sp>
    </p:spTree>
    <p:extLst>
      <p:ext uri="{BB962C8B-B14F-4D97-AF65-F5344CB8AC3E}">
        <p14:creationId xmlns:p14="http://schemas.microsoft.com/office/powerpoint/2010/main" val="2179818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A7345-9C7B-2CBD-1112-35453CBB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56000"/>
            <a:ext cx="5976000" cy="4464000"/>
          </a:xfrm>
        </p:spPr>
        <p:txBody>
          <a:bodyPr>
            <a:normAutofit fontScale="85000" lnSpcReduction="20000"/>
          </a:bodyPr>
          <a:lstStyle/>
          <a:p>
            <a:pPr marL="457200" lvl="1" indent="0">
              <a:buNone/>
            </a:pPr>
            <a:r>
              <a:rPr lang="en-US" sz="2800" b="1" dirty="0"/>
              <a:t>ACTIVITIES</a:t>
            </a:r>
          </a:p>
          <a:p>
            <a:pPr marL="457200" lvl="1" indent="0">
              <a:buNone/>
            </a:pPr>
            <a:endParaRPr lang="en-US" b="1" dirty="0"/>
          </a:p>
          <a:p>
            <a:pPr lvl="1"/>
            <a:r>
              <a:rPr lang="en-US" sz="2500" b="1" dirty="0"/>
              <a:t>Making</a:t>
            </a:r>
            <a:r>
              <a:rPr lang="en-US" sz="2500" dirty="0"/>
              <a:t> the </a:t>
            </a:r>
            <a:r>
              <a:rPr lang="en-US" sz="2500" b="1" dirty="0"/>
              <a:t>database open and available </a:t>
            </a:r>
            <a:r>
              <a:rPr lang="en-US" sz="2500" dirty="0"/>
              <a:t>(</a:t>
            </a:r>
            <a:r>
              <a:rPr lang="en-US" sz="2500" dirty="0" err="1"/>
              <a:t>Eurofound</a:t>
            </a:r>
            <a:r>
              <a:rPr lang="en-US" sz="2500" dirty="0"/>
              <a:t> &amp; ILO through data repository archive, e.g., UK data service, </a:t>
            </a:r>
            <a:r>
              <a:rPr lang="en-US" sz="2500" dirty="0" err="1"/>
              <a:t>Gesis</a:t>
            </a:r>
            <a:r>
              <a:rPr lang="en-US" sz="2500" dirty="0"/>
              <a:t>, Sodha or website) </a:t>
            </a:r>
            <a:r>
              <a:rPr lang="en-US" sz="2500" b="1" dirty="0"/>
              <a:t>(M6-7) </a:t>
            </a:r>
          </a:p>
          <a:p>
            <a:pPr lvl="1"/>
            <a:r>
              <a:rPr lang="en-US" sz="2500" b="1" dirty="0"/>
              <a:t>Developing &amp; Making publicly </a:t>
            </a:r>
            <a:r>
              <a:rPr lang="en-US" sz="2500" dirty="0"/>
              <a:t>open the methodologies (i.e., </a:t>
            </a:r>
            <a:r>
              <a:rPr lang="en-US" sz="2500" b="1" dirty="0"/>
              <a:t>Technical report</a:t>
            </a:r>
            <a:r>
              <a:rPr lang="en-US" sz="2500" dirty="0"/>
              <a:t>) &amp; survey module through website, publication, webinars (KUL with </a:t>
            </a:r>
            <a:r>
              <a:rPr lang="en-US" sz="2500" dirty="0" err="1"/>
              <a:t>Eurofound</a:t>
            </a:r>
            <a:r>
              <a:rPr lang="en-US" sz="2500" dirty="0"/>
              <a:t> (webinar TR)/ILO) </a:t>
            </a:r>
            <a:r>
              <a:rPr lang="en-US" sz="2500" b="1" dirty="0"/>
              <a:t>(M8-12)</a:t>
            </a:r>
          </a:p>
          <a:p>
            <a:pPr lvl="1"/>
            <a:r>
              <a:rPr lang="en-US" sz="2500" b="1" dirty="0"/>
              <a:t>Developing</a:t>
            </a:r>
            <a:r>
              <a:rPr lang="en-US" sz="2500" dirty="0"/>
              <a:t> a </a:t>
            </a:r>
            <a:r>
              <a:rPr lang="en-US" sz="2500" b="1" dirty="0"/>
              <a:t>Policy report </a:t>
            </a:r>
            <a:r>
              <a:rPr lang="en-US" sz="2500" dirty="0"/>
              <a:t>on macro social turn to disseminate to stakeholders (KU Leuven with ILO (webinar or workshop)/</a:t>
            </a:r>
            <a:r>
              <a:rPr lang="en-US" sz="2500" dirty="0" err="1"/>
              <a:t>Eurofound</a:t>
            </a:r>
            <a:r>
              <a:rPr lang="en-US" sz="2500" dirty="0"/>
              <a:t>) </a:t>
            </a:r>
            <a:r>
              <a:rPr lang="en-US" sz="2500" b="1" dirty="0"/>
              <a:t>(M5-12)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31F267-5157-D678-D822-F31AE7D49A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786114" cy="4464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/>
              <a:t>Q&amp;A</a:t>
            </a:r>
          </a:p>
          <a:p>
            <a:r>
              <a:rPr lang="en-US" sz="2800" b="1" dirty="0"/>
              <a:t>Harmonized cross-national database </a:t>
            </a:r>
            <a:r>
              <a:rPr lang="en-US" sz="2800" dirty="0"/>
              <a:t>(March-April 2026), </a:t>
            </a:r>
          </a:p>
          <a:p>
            <a:pPr lvl="1"/>
            <a:r>
              <a:rPr lang="en-US" sz="2800" dirty="0"/>
              <a:t>Country specific variables (e.g., educational level) &amp; variables which cannot be harmonized (e.g., they are not included due to survey limitations)</a:t>
            </a:r>
          </a:p>
          <a:p>
            <a:pPr lvl="1"/>
            <a:r>
              <a:rPr lang="en-US" sz="2800" dirty="0"/>
              <a:t>Format &amp; technicalities </a:t>
            </a:r>
          </a:p>
          <a:p>
            <a:r>
              <a:rPr lang="en-US" sz="2800" b="1" dirty="0"/>
              <a:t>Webinars/workshops </a:t>
            </a:r>
          </a:p>
          <a:p>
            <a:pPr lvl="1"/>
            <a:r>
              <a:rPr lang="en-US" sz="2800" dirty="0"/>
              <a:t>When and how 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B510713-D230-0180-DDC0-E521B5CC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 – Phase 1: </a:t>
            </a:r>
            <a:r>
              <a:rPr lang="en-US" dirty="0" err="1"/>
              <a:t>Eurofound</a:t>
            </a:r>
            <a:r>
              <a:rPr lang="en-US" dirty="0"/>
              <a:t>/ILO </a:t>
            </a:r>
          </a:p>
        </p:txBody>
      </p:sp>
    </p:spTree>
    <p:extLst>
      <p:ext uri="{BB962C8B-B14F-4D97-AF65-F5344CB8AC3E}">
        <p14:creationId xmlns:p14="http://schemas.microsoft.com/office/powerpoint/2010/main" val="2353870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D3633-35D2-0F58-BA9E-6CC013E7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7A868-C990-7383-F1B7-2B63B6BA3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56000"/>
            <a:ext cx="5976000" cy="4464000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b="1" dirty="0"/>
              <a:t>ACTIVITIES</a:t>
            </a:r>
          </a:p>
          <a:p>
            <a:pPr marL="457200" lvl="1" indent="0">
              <a:buNone/>
            </a:pPr>
            <a:endParaRPr lang="en-US" b="1" dirty="0"/>
          </a:p>
          <a:p>
            <a:pPr lvl="1"/>
            <a:r>
              <a:rPr lang="en-US" b="1" dirty="0"/>
              <a:t>Developing</a:t>
            </a:r>
            <a:r>
              <a:rPr lang="en-US" dirty="0"/>
              <a:t> a </a:t>
            </a:r>
            <a:r>
              <a:rPr lang="en-US" b="1" dirty="0"/>
              <a:t>Toolkit</a:t>
            </a:r>
            <a:r>
              <a:rPr lang="en-US" dirty="0"/>
              <a:t> (train-the-trainer materials  - text/brochure - &amp; learning nuggets of unpaid </a:t>
            </a:r>
            <a:r>
              <a:rPr lang="en-US" dirty="0" err="1"/>
              <a:t>labour</a:t>
            </a:r>
            <a:r>
              <a:rPr lang="en-US" dirty="0"/>
              <a:t>), multi-group LC analysis; (KU Leuven with ETUI, SOLIDAR) </a:t>
            </a:r>
            <a:r>
              <a:rPr lang="en-US" b="1" dirty="0"/>
              <a:t>(M8-12)</a:t>
            </a:r>
          </a:p>
          <a:p>
            <a:pPr lvl="1"/>
            <a:r>
              <a:rPr lang="en-US" b="1" dirty="0"/>
              <a:t>Developing Learning Nuggets </a:t>
            </a:r>
            <a:r>
              <a:rPr lang="en-US" dirty="0"/>
              <a:t>(KU Leuven with SOLIDAR who will make sure LN reach a broad range of workers in formal/informal work settings) </a:t>
            </a:r>
            <a:r>
              <a:rPr lang="en-US" b="1" dirty="0"/>
              <a:t>(M12-15)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30F7C-0B25-1B68-9E7E-E4E740DC78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786114" cy="446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Q&amp;A</a:t>
            </a:r>
          </a:p>
          <a:p>
            <a:pPr lvl="1"/>
            <a:r>
              <a:rPr lang="en-US" sz="2800" dirty="0"/>
              <a:t>Working methods Toolkit (train-the-trainer) &amp; dissemination training representatives – How</a:t>
            </a:r>
          </a:p>
          <a:p>
            <a:pPr lvl="1"/>
            <a:r>
              <a:rPr lang="en-US" sz="2800" dirty="0"/>
              <a:t>Dissemination (learning nuggets) – How </a:t>
            </a:r>
            <a:endParaRPr lang="en-US" b="1" dirty="0"/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947D11-DA3E-B428-8E34-2C4C5F2CA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 – Phase 2: ETUI (Education)/SOLIDAR </a:t>
            </a:r>
          </a:p>
        </p:txBody>
      </p:sp>
    </p:spTree>
    <p:extLst>
      <p:ext uri="{BB962C8B-B14F-4D97-AF65-F5344CB8AC3E}">
        <p14:creationId xmlns:p14="http://schemas.microsoft.com/office/powerpoint/2010/main" val="308274952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Corporate-KU Leuven-Liggend-Achtergrond Wit">
  <a:themeElements>
    <a:clrScheme name="KULeuven-Themakleuren">
      <a:dk1>
        <a:srgbClr val="00407A"/>
      </a:dk1>
      <a:lt1>
        <a:srgbClr val="FFFFFF"/>
      </a:lt1>
      <a:dk2>
        <a:srgbClr val="00407A"/>
      </a:dk2>
      <a:lt2>
        <a:srgbClr val="FFFFFF"/>
      </a:lt2>
      <a:accent1>
        <a:srgbClr val="1D8DB0"/>
      </a:accent1>
      <a:accent2>
        <a:srgbClr val="116E8A"/>
      </a:accent2>
      <a:accent3>
        <a:srgbClr val="52BDEC"/>
      </a:accent3>
      <a:accent4>
        <a:srgbClr val="00407A"/>
      </a:accent4>
      <a:accent5>
        <a:srgbClr val="7F7F7F"/>
      </a:accent5>
      <a:accent6>
        <a:srgbClr val="595959"/>
      </a:accent6>
      <a:hlink>
        <a:srgbClr val="1D8DB0"/>
      </a:hlink>
      <a:folHlink>
        <a:srgbClr val="00407A"/>
      </a:folHlink>
    </a:clrScheme>
    <a:fontScheme name="KULeuve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16E8A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1_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0</TotalTime>
  <Words>1694</Words>
  <Application>Microsoft Office PowerPoint</Application>
  <PresentationFormat>Widescreen</PresentationFormat>
  <Paragraphs>168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Courier New</vt:lpstr>
      <vt:lpstr>Wingdings</vt:lpstr>
      <vt:lpstr>KU Leuven</vt:lpstr>
      <vt:lpstr>KU Leuven Sedes</vt:lpstr>
      <vt:lpstr>Corporate-KU Leuven-Liggend-Achtergrond Wit</vt:lpstr>
      <vt:lpstr>1_KU Leuven</vt:lpstr>
      <vt:lpstr>     ReSTLess   Macro-Social Turn in Labour Market Inequality: An Open Database and A Toolkit of Unpaid Labour      </vt:lpstr>
      <vt:lpstr>Objective </vt:lpstr>
      <vt:lpstr>Objective </vt:lpstr>
      <vt:lpstr>Two stages</vt:lpstr>
      <vt:lpstr>From Ground-breaking Research towards Innovation: What &amp; Whom </vt:lpstr>
      <vt:lpstr>Eurofound &amp; ILO involvement</vt:lpstr>
      <vt:lpstr>ETUI (Education/Research), SOLIDAR</vt:lpstr>
      <vt:lpstr>The process: What, When, How </vt:lpstr>
      <vt:lpstr>Technical report to the open database</vt:lpstr>
      <vt:lpstr>Technical report to the open database</vt:lpstr>
      <vt:lpstr>Unpaid Labour Dimensions</vt:lpstr>
      <vt:lpstr>ResPecTMe survey module &amp; EWCS</vt:lpstr>
      <vt:lpstr>Q&amp;A – Phase 1: Eurofound/ILO </vt:lpstr>
      <vt:lpstr>Q&amp;A – Phase 2: ETUI (Education)/SOLIDAR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Valeria Pulignano</cp:lastModifiedBy>
  <cp:revision>21</cp:revision>
  <dcterms:created xsi:type="dcterms:W3CDTF">2017-09-13T11:47:32Z</dcterms:created>
  <dcterms:modified xsi:type="dcterms:W3CDTF">2025-11-12T12:36:08Z</dcterms:modified>
</cp:coreProperties>
</file>